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4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18"/>
    <p:restoredTop sz="94661"/>
  </p:normalViewPr>
  <p:slideViewPr>
    <p:cSldViewPr snapToGrid="0" snapToObjects="1">
      <p:cViewPr varScale="1">
        <p:scale>
          <a:sx n="150" d="100"/>
          <a:sy n="150" d="100"/>
        </p:scale>
        <p:origin x="424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3ABB5"/>
              </a:gs>
              <a:gs pos="100000">
                <a:srgbClr val="74C07E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7095" y="384048"/>
            <a:ext cx="1828800" cy="5616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2344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EAF7F4"/>
                </a:solidFill>
                <a:latin typeface="Segoe UI"/>
              </a:rPr>
              <a:t>AN ENGINEERING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058400" cy="1046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6800" b="1" i="0" dirty="0">
                <a:solidFill>
                  <a:srgbClr val="F3E43A"/>
                </a:solidFill>
                <a:latin typeface="Segoe UI"/>
              </a:rPr>
              <a:t>Beyond the </a:t>
            </a:r>
            <a:r>
              <a:rPr lang="en-US" sz="6800" b="1" i="0" dirty="0">
                <a:solidFill>
                  <a:srgbClr val="F3E43A"/>
                </a:solidFill>
                <a:latin typeface="Segoe UI"/>
              </a:rPr>
              <a:t>Agents</a:t>
            </a:r>
            <a:endParaRPr sz="6800" b="1" i="0" dirty="0">
              <a:solidFill>
                <a:srgbClr val="F3E43A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30632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700" b="1" i="0">
                <a:solidFill>
                  <a:srgbClr val="FFFFFF"/>
                </a:solidFill>
                <a:latin typeface="Segoe UI"/>
              </a:rPr>
              <a:t>Testing &amp; Deploying an Agentic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94760"/>
            <a:ext cx="6949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500" b="0" i="0">
                <a:solidFill>
                  <a:srgbClr val="EAF7F4"/>
                </a:solidFill>
                <a:latin typeface="Segoe UI"/>
              </a:rPr>
              <a:t>What it takes to make a multi-agent system </a:t>
            </a:r>
            <a:r>
              <a:rPr sz="1500" b="1" i="0">
                <a:solidFill>
                  <a:srgbClr val="FFFFFF"/>
                </a:solidFill>
                <a:latin typeface="Segoe UI"/>
              </a:rPr>
              <a:t>trustworthy</a:t>
            </a:r>
            <a:r>
              <a:rPr sz="1500" b="0" i="0">
                <a:solidFill>
                  <a:srgbClr val="EAF7F4"/>
                </a:solidFill>
                <a:latin typeface="Segoe UI"/>
              </a:rPr>
              <a:t> and </a:t>
            </a:r>
            <a:r>
              <a:rPr sz="1500" b="1" i="0">
                <a:solidFill>
                  <a:srgbClr val="FFFFFF"/>
                </a:solidFill>
                <a:latin typeface="Segoe UI"/>
              </a:rPr>
              <a:t>resilient</a:t>
            </a:r>
            <a:r>
              <a:rPr sz="1500" b="0" i="0">
                <a:solidFill>
                  <a:srgbClr val="EAF7F4"/>
                </a:solidFill>
                <a:latin typeface="Segoe UI"/>
              </a:rPr>
              <a:t> — using a LangGraph debate bot as the running example.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892040"/>
            <a:ext cx="3703320" cy="12344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B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5074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F3E43A"/>
                </a:solidFill>
                <a:latin typeface="Segoe UI"/>
              </a:rPr>
              <a:t>PART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394959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Segoe UI"/>
              </a:rPr>
              <a:t>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78815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EAF7F4"/>
                </a:solidFill>
                <a:latin typeface="Segoe UI"/>
              </a:rPr>
              <a:t>Earning trust in a non-deterministic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4892040"/>
            <a:ext cx="3703320" cy="123444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B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0" y="5074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F3E43A"/>
                </a:solidFill>
                <a:latin typeface="Segoe UI"/>
              </a:rPr>
              <a:t>PART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5394959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Segoe UI"/>
              </a:rPr>
              <a:t>Deployment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578815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EAF7F4"/>
                </a:solidFill>
                <a:latin typeface="Segoe UI"/>
              </a:rPr>
              <a:t>Surviving failure in a long-running 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EAF7F4"/>
                </a:solidFill>
                <a:latin typeface="Segoe UI"/>
              </a:rPr>
              <a:t>23 Jul 2026  ·  Talentica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969264"/>
            <a:ext cx="100584" cy="960120"/>
          </a:xfrm>
          <a:prstGeom prst="rect">
            <a:avLst/>
          </a:prstGeom>
          <a:solidFill>
            <a:srgbClr val="6FB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5AAE45"/>
                </a:solidFill>
                <a:latin typeface="Segoe UI"/>
              </a:rPr>
              <a:t>THE RUNNING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932688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2E9FA6"/>
                </a:solidFill>
                <a:latin typeface="Segoe UI"/>
              </a:rPr>
              <a:t>The System Under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700784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500" b="0" i="0">
                <a:solidFill>
                  <a:srgbClr val="68757E"/>
                </a:solidFill>
                <a:latin typeface="Segoe UI"/>
              </a:rPr>
              <a:t>A LangGraph multi-agent debate — Pro &amp; Con argue, a Moderator decides.</a:t>
            </a:r>
          </a:p>
        </p:txBody>
      </p:sp>
      <p:pic>
        <p:nvPicPr>
          <p:cNvPr id="6" name="Picture 5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84048"/>
            <a:ext cx="1737360" cy="5335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9AA6AD"/>
                </a:solidFill>
                <a:latin typeface="Segoe UI"/>
              </a:rPr>
              <a:t>Testing &amp; Deploying an Agentic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19088"/>
            <a:ext cx="2816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>
                <a:solidFill>
                  <a:srgbClr val="68757E"/>
                </a:solidFill>
                <a:latin typeface="Segoe UI"/>
              </a:rPr>
              <a:t>02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14600"/>
            <a:ext cx="1965960" cy="1234440"/>
          </a:xfrm>
          <a:prstGeom prst="roundRect">
            <a:avLst>
              <a:gd name="adj" fmla="val 8000"/>
            </a:avLst>
          </a:prstGeom>
          <a:solidFill>
            <a:srgbClr val="F1F7F5"/>
          </a:solidFill>
          <a:ln w="15875">
            <a:solidFill>
              <a:srgbClr val="E0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825496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38434C"/>
                </a:solidFill>
                <a:latin typeface="Segoe UI"/>
              </a:rPr>
              <a:t>Topic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27832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68757E"/>
                </a:solidFill>
                <a:latin typeface="Segoe UI"/>
              </a:rPr>
              <a:t>user input</a:t>
            </a:r>
          </a:p>
        </p:txBody>
      </p:sp>
      <p:sp>
        <p:nvSpPr>
          <p:cNvPr id="12" name="Isosceles Triangle 11"/>
          <p:cNvSpPr/>
          <p:nvPr/>
        </p:nvSpPr>
        <p:spPr>
          <a:xfrm rot="5400000">
            <a:off x="2761488" y="2985515"/>
            <a:ext cx="201168" cy="281635"/>
          </a:xfrm>
          <a:prstGeom prst="triangle">
            <a:avLst/>
          </a:prstGeom>
          <a:solidFill>
            <a:srgbClr val="3FA9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999232" y="2514600"/>
            <a:ext cx="1965960" cy="1234440"/>
          </a:xfrm>
          <a:prstGeom prst="roundRect">
            <a:avLst>
              <a:gd name="adj" fmla="val 8000"/>
            </a:avLst>
          </a:prstGeom>
          <a:solidFill>
            <a:srgbClr val="F0FAEC"/>
          </a:solidFill>
          <a:ln w="15875">
            <a:solidFill>
              <a:srgbClr val="BFE4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99232" y="2825496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38434C"/>
                </a:solidFill>
                <a:latin typeface="Segoe UI"/>
              </a:rPr>
              <a:t>Round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3227832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68757E"/>
                </a:solidFill>
                <a:latin typeface="Segoe UI"/>
              </a:rPr>
              <a:t>Opening · Pro + Con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4983479" y="2985515"/>
            <a:ext cx="201168" cy="281635"/>
          </a:xfrm>
          <a:prstGeom prst="triangle">
            <a:avLst/>
          </a:prstGeom>
          <a:solidFill>
            <a:srgbClr val="3FA9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221223" y="2514600"/>
            <a:ext cx="1965960" cy="1234440"/>
          </a:xfrm>
          <a:prstGeom prst="roundRect">
            <a:avLst>
              <a:gd name="adj" fmla="val 8000"/>
            </a:avLst>
          </a:prstGeom>
          <a:solidFill>
            <a:srgbClr val="EFFAFB"/>
          </a:solidFill>
          <a:ln w="15875">
            <a:solidFill>
              <a:srgbClr val="B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21223" y="2825496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38434C"/>
                </a:solidFill>
                <a:latin typeface="Segoe UI"/>
              </a:rPr>
              <a:t>Round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3" y="3227832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68757E"/>
                </a:solidFill>
                <a:latin typeface="Segoe UI"/>
              </a:rPr>
              <a:t>Rebuttal · Pro + Con</a:t>
            </a:r>
          </a:p>
        </p:txBody>
      </p:sp>
      <p:sp>
        <p:nvSpPr>
          <p:cNvPr id="20" name="Isosceles Triangle 19"/>
          <p:cNvSpPr/>
          <p:nvPr/>
        </p:nvSpPr>
        <p:spPr>
          <a:xfrm rot="5400000">
            <a:off x="7205471" y="2985515"/>
            <a:ext cx="201168" cy="281635"/>
          </a:xfrm>
          <a:prstGeom prst="triangle">
            <a:avLst/>
          </a:prstGeom>
          <a:solidFill>
            <a:srgbClr val="3FA9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443215" y="2514600"/>
            <a:ext cx="1965960" cy="1234440"/>
          </a:xfrm>
          <a:prstGeom prst="roundRect">
            <a:avLst>
              <a:gd name="adj" fmla="val 8000"/>
            </a:avLst>
          </a:prstGeom>
          <a:solidFill>
            <a:srgbClr val="F0FAEC"/>
          </a:solidFill>
          <a:ln w="15875">
            <a:solidFill>
              <a:srgbClr val="BFE4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43215" y="2825496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38434C"/>
                </a:solidFill>
                <a:latin typeface="Segoe UI"/>
              </a:rPr>
              <a:t>Round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3215" y="3227832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68757E"/>
                </a:solidFill>
                <a:latin typeface="Segoe UI"/>
              </a:rPr>
              <a:t>Closing · Pro + Con</a:t>
            </a:r>
          </a:p>
        </p:txBody>
      </p:sp>
      <p:sp>
        <p:nvSpPr>
          <p:cNvPr id="24" name="Isosceles Triangle 23"/>
          <p:cNvSpPr/>
          <p:nvPr/>
        </p:nvSpPr>
        <p:spPr>
          <a:xfrm rot="5400000">
            <a:off x="9427463" y="2985515"/>
            <a:ext cx="201168" cy="281635"/>
          </a:xfrm>
          <a:prstGeom prst="triangle">
            <a:avLst/>
          </a:prstGeom>
          <a:solidFill>
            <a:srgbClr val="3FA9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665207" y="2514600"/>
            <a:ext cx="1965960" cy="1234440"/>
          </a:xfrm>
          <a:prstGeom prst="roundRect">
            <a:avLst>
              <a:gd name="adj" fmla="val 8000"/>
            </a:avLst>
          </a:prstGeom>
          <a:solidFill>
            <a:srgbClr val="FFFDF0"/>
          </a:solidFill>
          <a:ln w="15875">
            <a:solidFill>
              <a:srgbClr val="F0D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65207" y="2825496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38434C"/>
                </a:solidFill>
                <a:latin typeface="Segoe UI"/>
              </a:rPr>
              <a:t>Moderator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5207" y="3227832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i="0">
                <a:solidFill>
                  <a:srgbClr val="68757E"/>
                </a:solidFill>
                <a:latin typeface="Segoe UI"/>
              </a:rPr>
              <a:t>verdict → Winner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023360"/>
            <a:ext cx="10607040" cy="548640"/>
          </a:xfrm>
          <a:prstGeom prst="roundRect">
            <a:avLst>
              <a:gd name="adj" fmla="val 8000"/>
            </a:avLst>
          </a:prstGeom>
          <a:solidFill>
            <a:srgbClr val="E9F3EF"/>
          </a:solidFill>
          <a:ln w="12700">
            <a:solidFill>
              <a:srgbClr val="CFE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4133087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50" b="1" i="0">
                <a:solidFill>
                  <a:srgbClr val="2E9FA6"/>
                </a:solidFill>
                <a:latin typeface="Segoe UI"/>
              </a:rPr>
              <a:t>Shared state (DebateState) flows through every node</a:t>
            </a:r>
            <a:r>
              <a:rPr sz="1350" b="0" i="0">
                <a:solidFill>
                  <a:srgbClr val="68757E"/>
                </a:solidFill>
                <a:latin typeface="Segoe UI"/>
              </a:rPr>
              <a:t>   — topic, all arguments, memory context, winner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846320"/>
            <a:ext cx="104241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6FBE55"/>
                </a:solidFill>
                <a:latin typeface="Segoe UI"/>
              </a:rPr>
              <a:t>● </a:t>
            </a:r>
            <a:r>
              <a:rPr sz="1400" b="0" i="0">
                <a:solidFill>
                  <a:srgbClr val="38434C"/>
                </a:solidFill>
                <a:latin typeface="Segoe UI"/>
              </a:rPr>
              <a:t>What makes it agentic: multiple cooperating agents, a shared evolving state, streamed output, and a decision at the end.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6FBE55"/>
                </a:solidFill>
                <a:latin typeface="Segoe UI"/>
              </a:rPr>
              <a:t>● </a:t>
            </a:r>
            <a:r>
              <a:rPr sz="1400" b="0" i="0">
                <a:solidFill>
                  <a:srgbClr val="38434C"/>
                </a:solidFill>
                <a:latin typeface="Segoe UI"/>
              </a:rPr>
              <a:t>Two hard questions follow: </a:t>
            </a:r>
            <a:r>
              <a:rPr sz="1400" b="1" i="0">
                <a:solidFill>
                  <a:srgbClr val="2E9FA6"/>
                </a:solidFill>
                <a:latin typeface="Segoe UI"/>
              </a:rPr>
              <a:t>can we trust its output?</a:t>
            </a:r>
            <a:r>
              <a:rPr sz="1400" b="0" i="0">
                <a:solidFill>
                  <a:srgbClr val="38434C"/>
                </a:solidFill>
                <a:latin typeface="Segoe UI"/>
              </a:rPr>
              <a:t>  and  </a:t>
            </a:r>
            <a:r>
              <a:rPr sz="1400" b="1" i="0">
                <a:solidFill>
                  <a:srgbClr val="5AAE45"/>
                </a:solidFill>
                <a:latin typeface="Segoe UI"/>
              </a:rPr>
              <a:t>will it stay up when something breaks?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969264"/>
            <a:ext cx="100584" cy="786384"/>
          </a:xfrm>
          <a:prstGeom prst="rect">
            <a:avLst/>
          </a:prstGeom>
          <a:solidFill>
            <a:srgbClr val="6FB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5AAE45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932688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2E9FA6"/>
                </a:solidFill>
                <a:latin typeface="Segoe UI"/>
              </a:rPr>
              <a:t>Why Agentic Systems Break the Playbook</a:t>
            </a:r>
          </a:p>
        </p:txBody>
      </p:sp>
      <p:pic>
        <p:nvPicPr>
          <p:cNvPr id="5" name="Picture 4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84048"/>
            <a:ext cx="1737360" cy="5335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9AA6AD"/>
                </a:solidFill>
                <a:latin typeface="Segoe UI"/>
              </a:rPr>
              <a:t>Testing &amp; Deploying an Agentic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19088"/>
            <a:ext cx="2816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>
                <a:solidFill>
                  <a:srgbClr val="68757E"/>
                </a:solidFill>
                <a:latin typeface="Segoe UI"/>
              </a:rPr>
              <a:t>03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5166360" cy="2743200"/>
          </a:xfrm>
          <a:prstGeom prst="roundRect">
            <a:avLst>
              <a:gd name="adj" fmla="val 8000"/>
            </a:avLst>
          </a:prstGeom>
          <a:solidFill>
            <a:srgbClr val="F1F7F5"/>
          </a:solidFill>
          <a:ln w="12700">
            <a:solidFill>
              <a:srgbClr val="E0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2459736"/>
            <a:ext cx="45811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E9FA6"/>
                </a:solidFill>
                <a:latin typeface="Segoe UI"/>
              </a:rPr>
              <a:t>PROPERTY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843784"/>
            <a:ext cx="458114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 i="0">
                <a:solidFill>
                  <a:srgbClr val="38434C"/>
                </a:solidFill>
                <a:latin typeface="Segoe UI"/>
              </a:rPr>
              <a:t>Non-deterministic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465576"/>
            <a:ext cx="4581144" cy="1243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0" i="0">
                <a:solidFill>
                  <a:srgbClr val="68757E"/>
                </a:solidFill>
                <a:latin typeface="Segoe UI"/>
              </a:rPr>
              <a:t>Same input, a different answer every time. You cannot assert equality — traditional pass/fail tests don't apply to the interesting behavior.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438912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5AAE45"/>
                </a:solidFill>
                <a:latin typeface="Segoe UI"/>
              </a:rPr>
              <a:t>→ Part 1 · Testing solves this.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148840"/>
            <a:ext cx="5166360" cy="2743200"/>
          </a:xfrm>
          <a:prstGeom prst="roundRect">
            <a:avLst>
              <a:gd name="adj" fmla="val 8000"/>
            </a:avLst>
          </a:prstGeom>
          <a:solidFill>
            <a:srgbClr val="F1F7F5"/>
          </a:solidFill>
          <a:ln w="12700">
            <a:solidFill>
              <a:srgbClr val="E0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8" y="2459736"/>
            <a:ext cx="45811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E9FA6"/>
                </a:solidFill>
                <a:latin typeface="Segoe UI"/>
              </a:rPr>
              <a:t>PROPERTY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843784"/>
            <a:ext cx="458114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 i="0">
                <a:solidFill>
                  <a:srgbClr val="38434C"/>
                </a:solidFill>
                <a:latin typeface="Segoe UI"/>
              </a:rPr>
              <a:t>Long-running &amp; stateful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3803904"/>
            <a:ext cx="4581144" cy="905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0" i="0">
                <a:solidFill>
                  <a:srgbClr val="68757E"/>
                </a:solidFill>
                <a:latin typeface="Segoe UI"/>
              </a:rPr>
              <a:t>A task is a sequence of steps, not one request. A crash mid-run loses real work — not just a connection.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4389120"/>
            <a:ext cx="4617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5AAE45"/>
                </a:solidFill>
                <a:latin typeface="Segoe UI"/>
              </a:rPr>
              <a:t>→ Part 2 · Deployment solves this.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257800"/>
            <a:ext cx="10817352" cy="548640"/>
          </a:xfrm>
          <a:prstGeom prst="roundRect">
            <a:avLst>
              <a:gd name="adj" fmla="val 8000"/>
            </a:avLst>
          </a:prstGeom>
          <a:solidFill>
            <a:srgbClr val="E9F3EF"/>
          </a:solidFill>
          <a:ln w="12700">
            <a:solidFill>
              <a:srgbClr val="CFE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5367528"/>
            <a:ext cx="10817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0" i="0">
                <a:solidFill>
                  <a:srgbClr val="68757E"/>
                </a:solidFill>
                <a:latin typeface="Segoe UI"/>
              </a:rPr>
              <a:t>Agenda   </a:t>
            </a:r>
            <a:r>
              <a:rPr sz="1400" b="1" i="0">
                <a:solidFill>
                  <a:srgbClr val="2E9FA6"/>
                </a:solidFill>
                <a:latin typeface="Segoe UI"/>
              </a:rPr>
              <a:t>Part 1 · Testing (trust)   →   Part 2 · Deployment (resilience)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969264"/>
            <a:ext cx="100584" cy="786384"/>
          </a:xfrm>
          <a:prstGeom prst="rect">
            <a:avLst/>
          </a:prstGeom>
          <a:solidFill>
            <a:srgbClr val="6FB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5AAE45"/>
                </a:solidFill>
                <a:latin typeface="Segoe UI"/>
              </a:rPr>
              <a:t>PART 1 ·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932688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2E9FA6"/>
                </a:solidFill>
                <a:latin typeface="Segoe UI"/>
              </a:rPr>
              <a:t>A Shift in Thinking: 3 Steps</a:t>
            </a:r>
          </a:p>
        </p:txBody>
      </p:sp>
      <p:pic>
        <p:nvPicPr>
          <p:cNvPr id="5" name="Picture 4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84048"/>
            <a:ext cx="1737360" cy="5335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9AA6AD"/>
                </a:solidFill>
                <a:latin typeface="Segoe UI"/>
              </a:rPr>
              <a:t>Testing &amp; Deploying an Agentic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19088"/>
            <a:ext cx="2816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>
                <a:solidFill>
                  <a:srgbClr val="68757E"/>
                </a:solidFill>
                <a:latin typeface="Segoe UI"/>
              </a:rPr>
              <a:t>04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3520440" cy="3063240"/>
          </a:xfrm>
          <a:prstGeom prst="roundRect">
            <a:avLst>
              <a:gd name="adj" fmla="val 8000"/>
            </a:avLst>
          </a:prstGeom>
          <a:solidFill>
            <a:srgbClr val="F1F7F5"/>
          </a:solidFill>
          <a:ln w="12700">
            <a:solidFill>
              <a:srgbClr val="E0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78408" y="2240279"/>
            <a:ext cx="530352" cy="530352"/>
          </a:xfrm>
          <a:prstGeom prst="ellipse">
            <a:avLst/>
          </a:prstGeom>
          <a:solidFill>
            <a:srgbClr val="6FB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267712"/>
            <a:ext cx="5303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1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98648"/>
            <a:ext cx="3017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38434C"/>
                </a:solidFill>
                <a:latin typeface="Segoe UI"/>
              </a:rPr>
              <a:t>Define the dimensions that matter for this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76472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0" i="0">
                <a:solidFill>
                  <a:srgbClr val="68757E"/>
                </a:solidFill>
                <a:latin typeface="Segoe UI"/>
              </a:rPr>
              <a:t>Dimensions come from what the agent is for: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965960"/>
            <a:ext cx="3520440" cy="3063240"/>
          </a:xfrm>
          <a:prstGeom prst="roundRect">
            <a:avLst>
              <a:gd name="adj" fmla="val 8000"/>
            </a:avLst>
          </a:prstGeom>
          <a:solidFill>
            <a:srgbClr val="F1F7F5"/>
          </a:solidFill>
          <a:ln w="12700">
            <a:solidFill>
              <a:srgbClr val="E0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626864" y="2240279"/>
            <a:ext cx="530352" cy="530352"/>
          </a:xfrm>
          <a:prstGeom prst="ellipse">
            <a:avLst/>
          </a:prstGeom>
          <a:solidFill>
            <a:srgbClr val="6FB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26864" y="2267712"/>
            <a:ext cx="5303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1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898648"/>
            <a:ext cx="3017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38434C"/>
                </a:solidFill>
                <a:latin typeface="Segoe UI"/>
              </a:rPr>
              <a:t>Split each into deterministic vs. non-deterministic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3776472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0" i="0">
                <a:solidFill>
                  <a:srgbClr val="68757E"/>
                </a:solidFill>
                <a:latin typeface="Segoe UI"/>
              </a:rPr>
              <a:t>Some things have a right answer (is the winner "Pro" or "Con"?). Some are judgments (is the argument persuasive?).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82712" y="1965960"/>
            <a:ext cx="3520440" cy="3063240"/>
          </a:xfrm>
          <a:prstGeom prst="roundRect">
            <a:avLst>
              <a:gd name="adj" fmla="val 8000"/>
            </a:avLst>
          </a:prstGeom>
          <a:solidFill>
            <a:srgbClr val="F1F7F5"/>
          </a:solidFill>
          <a:ln w="12700">
            <a:solidFill>
              <a:srgbClr val="E0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75320" y="2240279"/>
            <a:ext cx="530352" cy="530352"/>
          </a:xfrm>
          <a:prstGeom prst="ellipse">
            <a:avLst/>
          </a:prstGeom>
          <a:solidFill>
            <a:srgbClr val="6FB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2267712"/>
            <a:ext cx="5303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1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2" y="2898648"/>
            <a:ext cx="3017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38434C"/>
                </a:solidFill>
                <a:latin typeface="Segoe UI"/>
              </a:rPr>
              <a:t>Route each to the right 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3776472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0" i="0">
                <a:solidFill>
                  <a:srgbClr val="68757E"/>
                </a:solidFill>
                <a:latin typeface="Segoe UI"/>
              </a:rPr>
              <a:t>Rubric metric = a named criterion + a 1–5 scale, graded by a stronger model.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4233672"/>
            <a:ext cx="1444752" cy="310896"/>
          </a:xfrm>
          <a:prstGeom prst="roundRect">
            <a:avLst>
              <a:gd name="adj" fmla="val 8000"/>
            </a:avLst>
          </a:prstGeom>
          <a:solidFill>
            <a:srgbClr val="E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4261104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 i="0">
                <a:solidFill>
                  <a:srgbClr val="2E9FA6"/>
                </a:solidFill>
                <a:latin typeface="Segoe UI"/>
              </a:rPr>
              <a:t>Argument quality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14600" y="4233672"/>
            <a:ext cx="1444752" cy="310896"/>
          </a:xfrm>
          <a:prstGeom prst="roundRect">
            <a:avLst>
              <a:gd name="adj" fmla="val 8000"/>
            </a:avLst>
          </a:prstGeom>
          <a:solidFill>
            <a:srgbClr val="EEF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14600" y="4261104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 i="0">
                <a:solidFill>
                  <a:srgbClr val="5AAE45"/>
                </a:solidFill>
                <a:latin typeface="Segoe UI"/>
              </a:rPr>
              <a:t>Correctness &amp; robustness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" y="4617720"/>
            <a:ext cx="1444752" cy="310896"/>
          </a:xfrm>
          <a:prstGeom prst="roundRect">
            <a:avLst>
              <a:gd name="adj" fmla="val 8000"/>
            </a:avLst>
          </a:prstGeom>
          <a:solidFill>
            <a:srgbClr val="E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4645152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 i="0">
                <a:solidFill>
                  <a:srgbClr val="2E9FA6"/>
                </a:solidFill>
                <a:latin typeface="Segoe UI"/>
              </a:rPr>
              <a:t>Coherence / integrity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14600" y="4617720"/>
            <a:ext cx="1444752" cy="310896"/>
          </a:xfrm>
          <a:prstGeom prst="roundRect">
            <a:avLst>
              <a:gd name="adj" fmla="val 8000"/>
            </a:avLst>
          </a:prstGeom>
          <a:solidFill>
            <a:srgbClr val="EEF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14600" y="4645152"/>
            <a:ext cx="144475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1" i="0">
                <a:solidFill>
                  <a:srgbClr val="5AAE45"/>
                </a:solidFill>
                <a:latin typeface="Segoe UI"/>
              </a:rPr>
              <a:t>Performance &amp; streaming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2" y="4297679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38434C"/>
                </a:solidFill>
                <a:latin typeface="Segoe UI"/>
              </a:rPr>
              <a:t>Deterministic  →  </a:t>
            </a:r>
            <a:r>
              <a:rPr sz="1250" b="1" i="0">
                <a:solidFill>
                  <a:srgbClr val="5AAE45"/>
                </a:solidFill>
                <a:latin typeface="Segoe UI"/>
              </a:rPr>
              <a:t>script / regex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2" y="466344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38434C"/>
                </a:solidFill>
                <a:latin typeface="Segoe UI"/>
              </a:rPr>
              <a:t>Non-deterministic  →  </a:t>
            </a:r>
            <a:r>
              <a:rPr sz="1250" b="1" i="0">
                <a:solidFill>
                  <a:srgbClr val="2E9FA6"/>
                </a:solidFill>
                <a:latin typeface="Segoe UI"/>
              </a:rPr>
              <a:t>LLM-as-a-judge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138928"/>
            <a:ext cx="10817352" cy="1152144"/>
          </a:xfrm>
          <a:prstGeom prst="roundRect">
            <a:avLst>
              <a:gd name="adj" fmla="val 8000"/>
            </a:avLst>
          </a:prstGeom>
          <a:solidFill>
            <a:srgbClr val="E8F6EF"/>
          </a:solidFill>
          <a:ln w="12700">
            <a:solidFill>
              <a:srgbClr val="CFE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" y="5276088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1" i="0">
                <a:solidFill>
                  <a:srgbClr val="38434C"/>
                </a:solidFill>
                <a:latin typeface="Segoe UI"/>
              </a:rPr>
              <a:t>The metrics each dimension is actually scored 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5650992"/>
            <a:ext cx="1627632" cy="310896"/>
          </a:xfrm>
          <a:prstGeom prst="roundRect">
            <a:avLst>
              <a:gd name="adj" fmla="val 8000"/>
            </a:avLst>
          </a:prstGeom>
          <a:solidFill>
            <a:srgbClr val="E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0120" y="5678424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>
                <a:solidFill>
                  <a:srgbClr val="2E9FA6"/>
                </a:solidFill>
                <a:latin typeface="Segoe UI"/>
              </a:rPr>
              <a:t>LLM-judge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64184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2E9FA6"/>
                </a:solidFill>
                <a:latin typeface="Segoe UI"/>
              </a:rPr>
              <a:t>Relevance · Persuasiveness · Rebuttal engagement · Moderator soundness</a:t>
            </a:r>
            <a:r>
              <a:rPr sz="1250" b="0" i="0">
                <a:solidFill>
                  <a:srgbClr val="68757E"/>
                </a:solidFill>
                <a:latin typeface="Segoe UI"/>
              </a:rPr>
              <a:t>   — scored 1–5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" y="5961888"/>
            <a:ext cx="1627632" cy="310896"/>
          </a:xfrm>
          <a:prstGeom prst="roundRect">
            <a:avLst>
              <a:gd name="adj" fmla="val 8000"/>
            </a:avLst>
          </a:prstGeom>
          <a:solidFill>
            <a:srgbClr val="EEF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0120" y="5989320"/>
            <a:ext cx="162763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>
                <a:solidFill>
                  <a:srgbClr val="5AAE45"/>
                </a:solidFill>
                <a:latin typeface="Segoe UI"/>
              </a:rPr>
              <a:t>Deterministic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5952744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5AAE45"/>
                </a:solidFill>
                <a:latin typeface="Segoe UI"/>
              </a:rPr>
              <a:t>winner-valid · all fields present · word-count caps · moderator 3-part 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969264"/>
            <a:ext cx="100584" cy="960120"/>
          </a:xfrm>
          <a:prstGeom prst="rect">
            <a:avLst/>
          </a:prstGeom>
          <a:solidFill>
            <a:srgbClr val="6FB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5AAE45"/>
                </a:solidFill>
                <a:latin typeface="Segoe UI"/>
              </a:rPr>
              <a:t>PART 1 ·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932688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2E9FA6"/>
                </a:solidFill>
                <a:latin typeface="Segoe UI"/>
              </a:rPr>
              <a:t>The Method Generalizes — "Nexus Guard"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700784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500" b="0" i="0">
                <a:solidFill>
                  <a:srgbClr val="68757E"/>
                </a:solidFill>
                <a:latin typeface="Segoe UI"/>
              </a:rPr>
              <a:t>A different agentic system (a guarded customer-ops agent network). Same 3 steps — dimensions fall out of its purpose.</a:t>
            </a:r>
          </a:p>
        </p:txBody>
      </p:sp>
      <p:pic>
        <p:nvPicPr>
          <p:cNvPr id="6" name="Picture 5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84048"/>
            <a:ext cx="1737360" cy="5335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9AA6AD"/>
                </a:solidFill>
                <a:latin typeface="Segoe UI"/>
              </a:rPr>
              <a:t>Testing &amp; Deploying an Agentic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19088"/>
            <a:ext cx="2816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>
                <a:solidFill>
                  <a:srgbClr val="68757E"/>
                </a:solidFill>
                <a:latin typeface="Segoe UI"/>
              </a:rPr>
              <a:t>05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E9FA6"/>
                </a:solidFill>
                <a:latin typeface="Segoe UI"/>
              </a:rPr>
              <a:t>DIMENSION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194560"/>
            <a:ext cx="4434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E9FA6"/>
                </a:solidFill>
                <a:latin typeface="Segoe UI"/>
              </a:rPr>
              <a:t>WHAT IT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194560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E9FA6"/>
                </a:solidFill>
                <a:latin typeface="Segoe UI"/>
              </a:rPr>
              <a:t>SCORED ON — THE METRIC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505456"/>
            <a:ext cx="10789920" cy="18288"/>
          </a:xfrm>
          <a:prstGeom prst="rect">
            <a:avLst/>
          </a:prstGeom>
          <a:solidFill>
            <a:srgbClr val="E9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15768"/>
            <a:ext cx="24688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38434C"/>
                </a:solidFill>
                <a:latin typeface="Segoe UI"/>
              </a:rPr>
              <a:t>Routing &amp; loop integrity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715768"/>
            <a:ext cx="425195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00" b="0" i="0">
                <a:solidFill>
                  <a:srgbClr val="68757E"/>
                </a:solidFill>
                <a:latin typeface="Segoe UI"/>
              </a:rPr>
              <a:t>Passes a query across ≥3 agents; breaks routing loops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715768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00" b="1" i="0">
                <a:solidFill>
                  <a:srgbClr val="5AAE45"/>
                </a:solidFill>
                <a:latin typeface="Segoe UI"/>
              </a:rPr>
              <a:t>hops ≤ 3 · no A→B→A cycle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227832"/>
            <a:ext cx="10789920" cy="10972"/>
          </a:xfrm>
          <a:prstGeom prst="rect">
            <a:avLst/>
          </a:prstGeom>
          <a:solidFill>
            <a:srgbClr val="E0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319272"/>
            <a:ext cx="24688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38434C"/>
                </a:solidFill>
                <a:latin typeface="Segoe UI"/>
              </a:rPr>
              <a:t>PII masking / safety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319272"/>
            <a:ext cx="425195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00" b="0" i="0">
                <a:solidFill>
                  <a:srgbClr val="68757E"/>
                </a:solidFill>
                <a:latin typeface="Segoe UI"/>
              </a:rPr>
              <a:t>Aadhaar, cards, API keys masked in every stream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319272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00" b="1" i="0">
                <a:solidFill>
                  <a:srgbClr val="5AAE45"/>
                </a:solidFill>
                <a:latin typeface="Segoe UI"/>
              </a:rPr>
              <a:t>mask recall = 100%</a:t>
            </a:r>
            <a:r>
              <a:rPr sz="1200" b="1" i="0">
                <a:solidFill>
                  <a:srgbClr val="9AA6AD"/>
                </a:solidFill>
                <a:latin typeface="Segoe UI"/>
              </a:rPr>
              <a:t>   ·   </a:t>
            </a:r>
            <a:r>
              <a:rPr sz="1200" b="1" i="0">
                <a:solidFill>
                  <a:srgbClr val="2E9FA6"/>
                </a:solidFill>
                <a:latin typeface="Segoe UI"/>
              </a:rPr>
              <a:t>Safety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831336"/>
            <a:ext cx="10789920" cy="10972"/>
          </a:xfrm>
          <a:prstGeom prst="rect">
            <a:avLst/>
          </a:prstGeom>
          <a:solidFill>
            <a:srgbClr val="E0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922776"/>
            <a:ext cx="24688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38434C"/>
                </a:solidFill>
                <a:latin typeface="Segoe UI"/>
              </a:rPr>
              <a:t>Self-correction 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3922776"/>
            <a:ext cx="425195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00" b="0" i="0">
                <a:solidFill>
                  <a:srgbClr val="68757E"/>
                </a:solidFill>
                <a:latin typeface="Segoe UI"/>
              </a:rPr>
              <a:t>A judge gates the reply before it reaches the 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922776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00" b="1" i="0">
                <a:solidFill>
                  <a:srgbClr val="2E9FA6"/>
                </a:solidFill>
                <a:latin typeface="Segoe UI"/>
              </a:rPr>
              <a:t>Relevance · Factuality · Safety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434840"/>
            <a:ext cx="10789920" cy="10972"/>
          </a:xfrm>
          <a:prstGeom prst="rect">
            <a:avLst/>
          </a:prstGeom>
          <a:solidFill>
            <a:srgbClr val="E0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4526280"/>
            <a:ext cx="24688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38434C"/>
                </a:solidFill>
                <a:latin typeface="Segoe UI"/>
              </a:rPr>
              <a:t>Streaming performance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526280"/>
            <a:ext cx="425195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00" b="0" i="0">
                <a:solidFill>
                  <a:srgbClr val="68757E"/>
                </a:solidFill>
                <a:latin typeface="Segoe UI"/>
              </a:rPr>
              <a:t>Eval + masking keep up with the token stream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526280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00" b="1" i="0">
                <a:solidFill>
                  <a:srgbClr val="5AAE45"/>
                </a:solidFill>
                <a:latin typeface="Segoe UI"/>
              </a:rPr>
              <a:t>P95 latency &lt; 200 ms / chunk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038344"/>
            <a:ext cx="10789920" cy="10972"/>
          </a:xfrm>
          <a:prstGeom prst="rect">
            <a:avLst/>
          </a:prstGeom>
          <a:solidFill>
            <a:srgbClr val="E0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5129784"/>
            <a:ext cx="24688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38434C"/>
                </a:solidFill>
                <a:latin typeface="Segoe UI"/>
              </a:rPr>
              <a:t>Cost &amp; budget guardrails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5129784"/>
            <a:ext cx="425195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00" b="0" i="0">
                <a:solidFill>
                  <a:srgbClr val="68757E"/>
                </a:solidFill>
                <a:latin typeface="Segoe UI"/>
              </a:rPr>
              <a:t>Runaway session degrades to human-in-the-loop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5129784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200" b="1" i="0">
                <a:solidFill>
                  <a:srgbClr val="5AAE45"/>
                </a:solidFill>
                <a:latin typeface="Segoe UI"/>
              </a:rPr>
              <a:t>tokens ≤ budget · graceful handoff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5641848"/>
            <a:ext cx="10789920" cy="10972"/>
          </a:xfrm>
          <a:prstGeom prst="rect">
            <a:avLst/>
          </a:prstGeom>
          <a:solidFill>
            <a:srgbClr val="E0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85800" y="5852160"/>
            <a:ext cx="10817352" cy="502920"/>
          </a:xfrm>
          <a:prstGeom prst="roundRect">
            <a:avLst>
              <a:gd name="adj" fmla="val 8000"/>
            </a:avLst>
          </a:prstGeom>
          <a:solidFill>
            <a:srgbClr val="E9F3EF"/>
          </a:solidFill>
          <a:ln w="12700">
            <a:solidFill>
              <a:srgbClr val="CFE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" y="5943600"/>
            <a:ext cx="1081735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68757E"/>
                </a:solidFill>
                <a:latin typeface="Segoe UI"/>
              </a:rPr>
              <a:t>green = deterministic  ·  teal = LLM-judge      |      Same 3 steps, new dimensions — </a:t>
            </a:r>
            <a:r>
              <a:rPr sz="1250" b="1" i="0">
                <a:solidFill>
                  <a:srgbClr val="2E9FA6"/>
                </a:solidFill>
                <a:latin typeface="Segoe UI"/>
              </a:rPr>
              <a:t>the method transfers.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969264"/>
            <a:ext cx="100584" cy="960120"/>
          </a:xfrm>
          <a:prstGeom prst="rect">
            <a:avLst/>
          </a:prstGeom>
          <a:solidFill>
            <a:srgbClr val="6FB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5AAE45"/>
                </a:solidFill>
                <a:latin typeface="Segoe UI"/>
              </a:rPr>
              <a:t>PART 1 ·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932688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2E9FA6"/>
                </a:solidFill>
                <a:latin typeface="Segoe UI"/>
              </a:rPr>
              <a:t>One System, Validated Four 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700784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500" b="0" i="0">
                <a:solidFill>
                  <a:srgbClr val="68757E"/>
                </a:solidFill>
                <a:latin typeface="Segoe UI"/>
              </a:rPr>
              <a:t>Same system, dataset, and judge — the only variable is the harness. It's a buy-vs-build decision.</a:t>
            </a:r>
          </a:p>
        </p:txBody>
      </p:sp>
      <p:pic>
        <p:nvPicPr>
          <p:cNvPr id="6" name="Picture 5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84048"/>
            <a:ext cx="1737360" cy="5335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9AA6AD"/>
                </a:solidFill>
                <a:latin typeface="Segoe UI"/>
              </a:rPr>
              <a:t>Testing &amp; Deploying an Agentic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19088"/>
            <a:ext cx="2816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>
                <a:solidFill>
                  <a:srgbClr val="68757E"/>
                </a:solidFill>
                <a:latin typeface="Segoe UI"/>
              </a:rPr>
              <a:t>06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86000"/>
            <a:ext cx="3456432" cy="2514600"/>
          </a:xfrm>
          <a:prstGeom prst="roundRect">
            <a:avLst>
              <a:gd name="adj" fmla="val 8000"/>
            </a:avLst>
          </a:prstGeom>
          <a:solidFill>
            <a:srgbClr val="F1F7F5"/>
          </a:solidFill>
          <a:ln w="12700">
            <a:solidFill>
              <a:srgbClr val="E0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596896"/>
            <a:ext cx="2871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E9FA6"/>
                </a:solidFill>
                <a:latin typeface="Segoe UI"/>
              </a:rPr>
              <a:t>BUILD OUR 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980944"/>
            <a:ext cx="28712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 i="0">
                <a:solidFill>
                  <a:srgbClr val="38434C"/>
                </a:solidFill>
                <a:latin typeface="Segoe UI"/>
              </a:rPr>
              <a:t>Custom pytest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602736"/>
            <a:ext cx="2871215" cy="1014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0" i="0">
                <a:solidFill>
                  <a:srgbClr val="68757E"/>
                </a:solidFill>
                <a:latin typeface="Segoe UI"/>
              </a:rPr>
              <a:t>Total control, zero cost, fully private. Every metric and judge prompt is yours — but you maintain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2286000"/>
            <a:ext cx="3456432" cy="2514600"/>
          </a:xfrm>
          <a:prstGeom prst="roundRect">
            <a:avLst>
              <a:gd name="adj" fmla="val 8000"/>
            </a:avLst>
          </a:prstGeom>
          <a:solidFill>
            <a:srgbClr val="F1F7F5"/>
          </a:solidFill>
          <a:ln w="12700">
            <a:solidFill>
              <a:srgbClr val="E0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54296" y="2596896"/>
            <a:ext cx="2871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E9FA6"/>
                </a:solidFill>
                <a:latin typeface="Segoe UI"/>
              </a:rPr>
              <a:t>HOSTED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980944"/>
            <a:ext cx="28712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 i="0">
                <a:solidFill>
                  <a:srgbClr val="38434C"/>
                </a:solidFill>
                <a:latin typeface="Segoe UI"/>
              </a:rPr>
              <a:t>LangSmith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3602736"/>
            <a:ext cx="2871215" cy="1014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0" i="0">
                <a:solidFill>
                  <a:srgbClr val="68757E"/>
                </a:solidFill>
                <a:latin typeface="Segoe UI"/>
              </a:rPr>
              <a:t>Dashboards, history, free per-node traces. The price: data leaves the machine.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7575" y="2286000"/>
            <a:ext cx="3456432" cy="2514600"/>
          </a:xfrm>
          <a:prstGeom prst="roundRect">
            <a:avLst>
              <a:gd name="adj" fmla="val 8000"/>
            </a:avLst>
          </a:prstGeom>
          <a:solidFill>
            <a:srgbClr val="F1F7F5"/>
          </a:solidFill>
          <a:ln w="12700">
            <a:solidFill>
              <a:srgbClr val="E0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0183" y="2596896"/>
            <a:ext cx="2871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E9FA6"/>
                </a:solidFill>
                <a:latin typeface="Segoe UI"/>
              </a:rPr>
              <a:t>OFF-THE-SHELF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2980944"/>
            <a:ext cx="28712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 i="0">
                <a:solidFill>
                  <a:srgbClr val="38434C"/>
                </a:solidFill>
                <a:latin typeface="Segoe UI"/>
              </a:rPr>
              <a:t>deepeval / promptfoo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3602736"/>
            <a:ext cx="2871215" cy="1014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0" i="0">
                <a:solidFill>
                  <a:srgbClr val="68757E"/>
                </a:solidFill>
                <a:latin typeface="Segoe UI"/>
              </a:rPr>
              <a:t>Fast to adopt, rich prebuilt rubrics. The abstraction can hide what's actually measured.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38E95-93F7-9A3E-8551-5F2AC9265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-color.png">
            <a:extLst>
              <a:ext uri="{FF2B5EF4-FFF2-40B4-BE49-F238E27FC236}">
                <a16:creationId xmlns:a16="http://schemas.microsoft.com/office/drawing/2014/main" id="{8067B2FD-DB77-1062-0684-2F50C14D7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84048"/>
            <a:ext cx="1737360" cy="5335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4B2883-2916-F8F2-F560-36923EE236B1}"/>
              </a:ext>
            </a:extLst>
          </p:cNvPr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9AA6AD"/>
                </a:solidFill>
                <a:latin typeface="Segoe UI"/>
              </a:rPr>
              <a:t>Testing &amp; Deploying an Agentic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75221B-F7D9-54F6-B689-BF82D7C70758}"/>
              </a:ext>
            </a:extLst>
          </p:cNvPr>
          <p:cNvSpPr txBox="1"/>
          <p:nvPr/>
        </p:nvSpPr>
        <p:spPr>
          <a:xfrm>
            <a:off x="8686800" y="6419088"/>
            <a:ext cx="2816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>
                <a:solidFill>
                  <a:srgbClr val="68757E"/>
                </a:solidFill>
                <a:latin typeface="Segoe UI"/>
              </a:rPr>
              <a:t>06 / 17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537E0B3-5D94-9C9E-54C7-E667CDCDA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925" y="400050"/>
            <a:ext cx="6769100" cy="605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387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969264"/>
            <a:ext cx="100584" cy="786384"/>
          </a:xfrm>
          <a:prstGeom prst="rect">
            <a:avLst/>
          </a:prstGeom>
          <a:solidFill>
            <a:srgbClr val="6FB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5AAE45"/>
                </a:solidFill>
                <a:latin typeface="Segoe UI"/>
              </a:rPr>
              <a:t>APPROACH 1 OF 4 ·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932688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2E9FA6"/>
                </a:solidFill>
                <a:latin typeface="Segoe UI"/>
              </a:rPr>
              <a:t>Custom pytest + LLM-as-judge</a:t>
            </a:r>
          </a:p>
        </p:txBody>
      </p:sp>
      <p:pic>
        <p:nvPicPr>
          <p:cNvPr id="5" name="Picture 4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84048"/>
            <a:ext cx="1737360" cy="5335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9AA6AD"/>
                </a:solidFill>
                <a:latin typeface="Segoe UI"/>
              </a:rPr>
              <a:t>Testing &amp; Deploying an Agentic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19088"/>
            <a:ext cx="2816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>
                <a:solidFill>
                  <a:srgbClr val="68757E"/>
                </a:solidFill>
                <a:latin typeface="Segoe UI"/>
              </a:rPr>
              <a:t>07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AAE45"/>
                </a:solidFill>
                <a:latin typeface="Segoe U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59736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450" b="0" i="0">
                <a:solidFill>
                  <a:srgbClr val="38434C"/>
                </a:solidFill>
                <a:latin typeface="Segoe UI"/>
              </a:rPr>
              <a:t>A small </a:t>
            </a:r>
            <a:r>
              <a:rPr sz="1450" b="1" i="0">
                <a:solidFill>
                  <a:srgbClr val="2E9FA6"/>
                </a:solidFill>
                <a:latin typeface="Segoe UI"/>
              </a:rPr>
              <a:t>evals/</a:t>
            </a:r>
            <a:r>
              <a:rPr sz="1450" b="0" i="0">
                <a:solidFill>
                  <a:srgbClr val="38434C"/>
                </a:solidFill>
                <a:latin typeface="Segoe UI"/>
              </a:rPr>
              <a:t> harness on the existing pytest + Anthropic stack. </a:t>
            </a:r>
            <a:r>
              <a:rPr sz="1450" b="1" i="0">
                <a:solidFill>
                  <a:srgbClr val="38434C"/>
                </a:solidFill>
                <a:latin typeface="Segoe UI"/>
              </a:rPr>
              <a:t>No new dependencies.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6616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AAE45"/>
                </a:solidFill>
                <a:latin typeface="Segoe UI"/>
              </a:rP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77056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450" b="1" i="0">
                <a:solidFill>
                  <a:srgbClr val="2E9FA6"/>
                </a:solidFill>
                <a:latin typeface="Segoe UI"/>
              </a:rPr>
              <a:t>run_debate(topic)</a:t>
            </a:r>
            <a:r>
              <a:rPr sz="1450" b="0" i="0">
                <a:solidFill>
                  <a:srgbClr val="38434C"/>
                </a:solidFill>
                <a:latin typeface="Segoe UI"/>
              </a:rPr>
              <a:t> over a golden dataset → deterministic scorers (Python / regex) + an LLM-judge scorer (1–5 on 4 axes) → a scorecard.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14884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AAE45"/>
                </a:solidFill>
                <a:latin typeface="Segoe UI"/>
              </a:rPr>
              <a:t>STRENGTHS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459736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450" b="0" i="0">
                <a:solidFill>
                  <a:srgbClr val="38434C"/>
                </a:solidFill>
                <a:latin typeface="Segoe UI"/>
              </a:rPr>
              <a:t>Zero-dependency, fully offline, you own every metric, trivial in CI.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56616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AAE45"/>
                </a:solidFill>
                <a:latin typeface="Segoe UI"/>
              </a:rPr>
              <a:t>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877056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450" b="0" i="0">
                <a:solidFill>
                  <a:srgbClr val="38434C"/>
                </a:solidFill>
                <a:latin typeface="Segoe UI"/>
              </a:rPr>
              <a:t>You build &amp; maintain the harness, dataset, and report yourself.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937760"/>
            <a:ext cx="5212080" cy="868680"/>
          </a:xfrm>
          <a:prstGeom prst="roundRect">
            <a:avLst>
              <a:gd name="adj" fmla="val 8000"/>
            </a:avLst>
          </a:prstGeom>
          <a:solidFill>
            <a:srgbClr val="E8F6EF"/>
          </a:solidFill>
          <a:ln w="12700">
            <a:solidFill>
              <a:srgbClr val="CFE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5084064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E9FA6"/>
                </a:solidFill>
                <a:latin typeface="Segoe UI"/>
              </a:rPr>
              <a:t>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5358384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38434C"/>
                </a:solidFill>
                <a:latin typeface="Segoe UI"/>
              </a:rPr>
              <a:t>The backbone</a:t>
            </a:r>
            <a:r>
              <a:rPr sz="1400" b="0" i="0">
                <a:solidFill>
                  <a:srgbClr val="38434C"/>
                </a:solidFill>
                <a:latin typeface="Segoe UI"/>
              </a:rPr>
              <a:t> — the default CI gate and single source of scoring truth.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969264"/>
            <a:ext cx="100584" cy="786384"/>
          </a:xfrm>
          <a:prstGeom prst="rect">
            <a:avLst/>
          </a:prstGeom>
          <a:solidFill>
            <a:srgbClr val="6FB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5AAE45"/>
                </a:solidFill>
                <a:latin typeface="Segoe UI"/>
              </a:rPr>
              <a:t>APPROACH 2 OF 4 ·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932688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2E9FA6"/>
                </a:solidFill>
                <a:latin typeface="Segoe UI"/>
              </a:rPr>
              <a:t>LangSmith (hosted)</a:t>
            </a:r>
          </a:p>
        </p:txBody>
      </p:sp>
      <p:pic>
        <p:nvPicPr>
          <p:cNvPr id="5" name="Picture 4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84048"/>
            <a:ext cx="1737360" cy="5335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9AA6AD"/>
                </a:solidFill>
                <a:latin typeface="Segoe UI"/>
              </a:rPr>
              <a:t>Testing &amp; Deploying an Agentic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19088"/>
            <a:ext cx="2816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>
                <a:solidFill>
                  <a:srgbClr val="68757E"/>
                </a:solidFill>
                <a:latin typeface="Segoe UI"/>
              </a:rPr>
              <a:t>08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AAE45"/>
                </a:solidFill>
                <a:latin typeface="Segoe U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59736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450" b="0" i="0">
                <a:solidFill>
                  <a:srgbClr val="38434C"/>
                </a:solidFill>
                <a:latin typeface="Segoe UI"/>
              </a:rPr>
              <a:t>Flip on a dependency that's </a:t>
            </a:r>
            <a:r>
              <a:rPr sz="1450" b="1" i="0">
                <a:solidFill>
                  <a:srgbClr val="38434C"/>
                </a:solidFill>
                <a:latin typeface="Segoe UI"/>
              </a:rPr>
              <a:t>already present</a:t>
            </a:r>
            <a:r>
              <a:rPr sz="1450" b="0" i="0">
                <a:solidFill>
                  <a:srgbClr val="38434C"/>
                </a:solidFill>
                <a:latin typeface="Segoe UI"/>
              </a:rPr>
              <a:t> — upload the dataset, define evaluators, turn on tracing.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6616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AAE45"/>
                </a:solidFill>
                <a:latin typeface="Segoe UI"/>
              </a:rP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77056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450" b="0" i="0">
                <a:solidFill>
                  <a:srgbClr val="38434C"/>
                </a:solidFill>
                <a:latin typeface="Segoe UI"/>
              </a:rPr>
              <a:t>Reuses the </a:t>
            </a:r>
            <a:r>
              <a:rPr sz="1450" b="1" i="0">
                <a:solidFill>
                  <a:srgbClr val="38434C"/>
                </a:solidFill>
                <a:latin typeface="Segoe UI"/>
              </a:rPr>
              <a:t>same scorers</a:t>
            </a:r>
            <a:r>
              <a:rPr sz="1450" b="0" i="0">
                <a:solidFill>
                  <a:srgbClr val="38434C"/>
                </a:solidFill>
                <a:latin typeface="Segoe UI"/>
              </a:rPr>
              <a:t> as Approach 1, run on a hosted platform. LangGraph auto-emits per-node traces.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14884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AAE45"/>
                </a:solidFill>
                <a:latin typeface="Segoe UI"/>
              </a:rPr>
              <a:t>STRENGTHS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459736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450" b="0" i="0">
                <a:solidFill>
                  <a:srgbClr val="38434C"/>
                </a:solidFill>
                <a:latin typeface="Segoe UI"/>
              </a:rPr>
              <a:t>Hosted dashboard for scores + traces, free per-node latency, versioned datasets and regression history.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56616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AAE45"/>
                </a:solidFill>
                <a:latin typeface="Segoe UI"/>
              </a:rPr>
              <a:t>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877056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450" b="0" i="0">
                <a:solidFill>
                  <a:srgbClr val="38434C"/>
                </a:solidFill>
                <a:latin typeface="Segoe UI"/>
              </a:rPr>
              <a:t>Needs an account + network — </a:t>
            </a:r>
            <a:r>
              <a:rPr sz="1450" b="1" i="0">
                <a:solidFill>
                  <a:srgbClr val="38434C"/>
                </a:solidFill>
                <a:latin typeface="Segoe UI"/>
              </a:rPr>
              <a:t>data leaves the machine.</a:t>
            </a:r>
            <a:r>
              <a:rPr sz="1450" b="0" i="0">
                <a:solidFill>
                  <a:srgbClr val="38434C"/>
                </a:solidFill>
                <a:latin typeface="Segoe UI"/>
              </a:rPr>
              <a:t> Don't point it at sensitive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937760"/>
            <a:ext cx="5212080" cy="868680"/>
          </a:xfrm>
          <a:prstGeom prst="roundRect">
            <a:avLst>
              <a:gd name="adj" fmla="val 8000"/>
            </a:avLst>
          </a:prstGeom>
          <a:solidFill>
            <a:srgbClr val="E8F6EF"/>
          </a:solidFill>
          <a:ln w="12700">
            <a:solidFill>
              <a:srgbClr val="CFE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5084064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E9FA6"/>
                </a:solidFill>
                <a:latin typeface="Segoe UI"/>
              </a:rPr>
              <a:t>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5358384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38434C"/>
                </a:solidFill>
                <a:latin typeface="Segoe UI"/>
              </a:rPr>
              <a:t>Add when you need </a:t>
            </a:r>
            <a:r>
              <a:rPr sz="1400" b="1" i="0">
                <a:solidFill>
                  <a:srgbClr val="38434C"/>
                </a:solidFill>
                <a:latin typeface="Segoe UI"/>
              </a:rPr>
              <a:t>history + performance monitoring.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969264"/>
            <a:ext cx="100584" cy="960120"/>
          </a:xfrm>
          <a:prstGeom prst="rect">
            <a:avLst/>
          </a:prstGeom>
          <a:solidFill>
            <a:srgbClr val="6FB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5AAE45"/>
                </a:solidFill>
                <a:latin typeface="Segoe UI"/>
              </a:rPr>
              <a:t>APPROACH 3 OF 4 ·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932688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2E9FA6"/>
                </a:solidFill>
                <a:latin typeface="Segoe UI"/>
              </a:rPr>
              <a:t>deepeval — G-Eval rubrics in pytest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700784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500" b="0" i="0">
                <a:solidFill>
                  <a:srgbClr val="68757E"/>
                </a:solidFill>
                <a:latin typeface="Segoe UI"/>
              </a:rPr>
              <a:t>Off-the-shelf rubric metrics, run in pytest. Here's G-Eval, adapted to a debate exchange.</a:t>
            </a:r>
          </a:p>
        </p:txBody>
      </p:sp>
      <p:pic>
        <p:nvPicPr>
          <p:cNvPr id="6" name="Picture 5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84048"/>
            <a:ext cx="1737360" cy="5335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9AA6AD"/>
                </a:solidFill>
                <a:latin typeface="Segoe UI"/>
              </a:rPr>
              <a:t>Testing &amp; Deploying an Agentic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19088"/>
            <a:ext cx="2816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>
                <a:solidFill>
                  <a:srgbClr val="68757E"/>
                </a:solidFill>
                <a:latin typeface="Segoe UI"/>
              </a:rPr>
              <a:t>09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06040"/>
            <a:ext cx="4297680" cy="1051560"/>
          </a:xfrm>
          <a:prstGeom prst="roundRect">
            <a:avLst>
              <a:gd name="adj" fmla="val 8000"/>
            </a:avLst>
          </a:prstGeom>
          <a:solidFill>
            <a:srgbClr val="F2F7FD"/>
          </a:solidFill>
          <a:ln w="12700">
            <a:solidFill>
              <a:srgbClr val="A9C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275234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33557D"/>
                </a:solidFill>
                <a:latin typeface="Segoe UI"/>
              </a:rPr>
              <a:t>Task 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063240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1100" b="0" i="1">
                <a:solidFill>
                  <a:srgbClr val="33557D"/>
                </a:solidFill>
                <a:latin typeface="Segoe UI"/>
              </a:rPr>
              <a:t>"You will be given one exchange from a debate. Rate it on one metric."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6"/>
            <a:ext cx="4297680" cy="1051560"/>
          </a:xfrm>
          <a:prstGeom prst="roundRect">
            <a:avLst>
              <a:gd name="adj" fmla="val 8000"/>
            </a:avLst>
          </a:prstGeom>
          <a:solidFill>
            <a:srgbClr val="F2F7FD"/>
          </a:solidFill>
          <a:ln w="12700">
            <a:solidFill>
              <a:srgbClr val="A9C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39319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33557D"/>
                </a:solidFill>
                <a:latin typeface="Segoe UI"/>
              </a:rPr>
              <a:t>Evaluation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242816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1100" b="0" i="1">
                <a:solidFill>
                  <a:srgbClr val="33557D"/>
                </a:solidFill>
                <a:latin typeface="Segoe UI"/>
              </a:rPr>
              <a:t>Rebuttal Engagement (1–5) — does the Con rebuttal address ≥1 specific point from the Pro opening?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965192"/>
            <a:ext cx="4297680" cy="1051560"/>
          </a:xfrm>
          <a:prstGeom prst="roundRect">
            <a:avLst>
              <a:gd name="adj" fmla="val 8000"/>
            </a:avLst>
          </a:prstGeom>
          <a:solidFill>
            <a:srgbClr val="EFF9F1"/>
          </a:solidFill>
          <a:ln w="12700">
            <a:solidFill>
              <a:srgbClr val="A7D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511149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F7D47"/>
                </a:solidFill>
                <a:latin typeface="Segoe UI"/>
              </a:rPr>
              <a:t>Evaluation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5422392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</a:pPr>
            <a:r>
              <a:rPr sz="1100" b="0" i="1">
                <a:solidFill>
                  <a:srgbClr val="2F7D47"/>
                </a:solidFill>
                <a:latin typeface="Segoe UI"/>
              </a:rPr>
              <a:t>1. Read Pro opening. 2. Read Con rebuttal; check which Pro points it addresses. 3. Assign 1–5.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06908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68757E"/>
                </a:solidFill>
                <a:latin typeface="Segoe UI"/>
              </a:rPr>
              <a:t>Auto-CoT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5303520" y="3840480"/>
            <a:ext cx="237744" cy="332841"/>
          </a:xfrm>
          <a:prstGeom prst="triangle">
            <a:avLst/>
          </a:prstGeom>
          <a:solidFill>
            <a:srgbClr val="3FA9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89320" y="2606040"/>
            <a:ext cx="4160520" cy="749808"/>
          </a:xfrm>
          <a:prstGeom prst="roundRect">
            <a:avLst>
              <a:gd name="adj" fmla="val 8000"/>
            </a:avLst>
          </a:prstGeom>
          <a:solidFill>
            <a:srgbClr val="EFF9F1"/>
          </a:solidFill>
          <a:ln w="12700">
            <a:solidFill>
              <a:srgbClr val="A7D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45352" y="2724912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2F7D47"/>
                </a:solidFill>
                <a:latin typeface="Segoe UI"/>
              </a:rPr>
              <a:t>Input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3017520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1">
                <a:solidFill>
                  <a:srgbClr val="2F7D47"/>
                </a:solidFill>
                <a:latin typeface="Segoe UI"/>
              </a:rPr>
              <a:t>Topic + Pro opening: "Athletes are overpaid…"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3474720"/>
            <a:ext cx="4160520" cy="749808"/>
          </a:xfrm>
          <a:prstGeom prst="roundRect">
            <a:avLst>
              <a:gd name="adj" fmla="val 8000"/>
            </a:avLst>
          </a:prstGeom>
          <a:solidFill>
            <a:srgbClr val="EFF9F1"/>
          </a:solidFill>
          <a:ln w="12700">
            <a:solidFill>
              <a:srgbClr val="A7D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45352" y="3593591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2F7D47"/>
                </a:solidFill>
                <a:latin typeface="Segoe UI"/>
              </a:rPr>
              <a:t>Input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3886200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i="1">
                <a:solidFill>
                  <a:srgbClr val="2F7D47"/>
                </a:solidFill>
                <a:latin typeface="Segoe UI"/>
              </a:rPr>
              <a:t>Con rebuttal (the text being scored)</a:t>
            </a:r>
          </a:p>
        </p:txBody>
      </p:sp>
      <p:sp>
        <p:nvSpPr>
          <p:cNvPr id="26" name="Isosceles Triangle 25"/>
          <p:cNvSpPr/>
          <p:nvPr/>
        </p:nvSpPr>
        <p:spPr>
          <a:xfrm rot="10800000">
            <a:off x="7923276" y="4361688"/>
            <a:ext cx="285292" cy="219456"/>
          </a:xfrm>
          <a:prstGeom prst="triangle">
            <a:avLst/>
          </a:prstGeom>
          <a:solidFill>
            <a:srgbClr val="3FA9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989320" y="4709160"/>
            <a:ext cx="4160520" cy="1417320"/>
          </a:xfrm>
          <a:prstGeom prst="roundRect">
            <a:avLst>
              <a:gd name="adj" fmla="val 8000"/>
            </a:avLst>
          </a:prstGeom>
          <a:solidFill>
            <a:srgbClr val="ECE6F9"/>
          </a:solidFill>
          <a:ln w="12700">
            <a:solidFill>
              <a:srgbClr val="CBB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45352" y="4837176"/>
            <a:ext cx="3703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5B45A8"/>
                </a:solidFill>
                <a:latin typeface="Segoe UI"/>
              </a:rPr>
              <a:t>G-Eval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5490972"/>
            <a:ext cx="384048" cy="150876"/>
          </a:xfrm>
          <a:prstGeom prst="rect">
            <a:avLst/>
          </a:prstGeom>
          <a:solidFill>
            <a:srgbClr val="A78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5660136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6A5AA8"/>
                </a:solidFill>
                <a:latin typeface="Segoe UI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49440" y="5408676"/>
            <a:ext cx="384048" cy="233172"/>
          </a:xfrm>
          <a:prstGeom prst="rect">
            <a:avLst/>
          </a:prstGeom>
          <a:solidFill>
            <a:srgbClr val="A78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49440" y="5660136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6A5AA8"/>
                </a:solidFill>
                <a:latin typeface="Segoe UI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52360" y="5264658"/>
            <a:ext cx="384048" cy="377190"/>
          </a:xfrm>
          <a:prstGeom prst="rect">
            <a:avLst/>
          </a:prstGeom>
          <a:solidFill>
            <a:srgbClr val="A78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52360" y="5660136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6A5AA8"/>
                </a:solidFill>
                <a:latin typeface="Segoe UI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0" y="5038344"/>
            <a:ext cx="384048" cy="603504"/>
          </a:xfrm>
          <a:prstGeom prst="rect">
            <a:avLst/>
          </a:prstGeom>
          <a:solidFill>
            <a:srgbClr val="A78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55280" y="5660136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6A5AA8"/>
                </a:solidFill>
                <a:latin typeface="Segoe UI"/>
              </a:rP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58200" y="5367528"/>
            <a:ext cx="384048" cy="274320"/>
          </a:xfrm>
          <a:prstGeom prst="rect">
            <a:avLst/>
          </a:prstGeom>
          <a:solidFill>
            <a:srgbClr val="A78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58200" y="5660136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6A5AA8"/>
                </a:solidFill>
                <a:latin typeface="Segoe U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5212080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4A3894"/>
                </a:solidFill>
                <a:latin typeface="Segoe UI"/>
              </a:rPr>
              <a:t>Rebuttal
Engagement: 4.2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969264"/>
            <a:ext cx="100584" cy="786384"/>
          </a:xfrm>
          <a:prstGeom prst="rect">
            <a:avLst/>
          </a:prstGeom>
          <a:solidFill>
            <a:srgbClr val="6FB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5AAE45"/>
                </a:solidFill>
                <a:latin typeface="Segoe UI"/>
              </a:rPr>
              <a:t>APPROACH 4 OF 4 ·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932688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2E9FA6"/>
                </a:solidFill>
                <a:latin typeface="Segoe UI"/>
              </a:rPr>
              <a:t>promptfoo (declarative YAML + CLI)</a:t>
            </a:r>
          </a:p>
        </p:txBody>
      </p:sp>
      <p:pic>
        <p:nvPicPr>
          <p:cNvPr id="5" name="Picture 4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84048"/>
            <a:ext cx="1737360" cy="5335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9AA6AD"/>
                </a:solidFill>
                <a:latin typeface="Segoe UI"/>
              </a:rPr>
              <a:t>Testing &amp; Deploying an Agentic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19088"/>
            <a:ext cx="2816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>
                <a:solidFill>
                  <a:srgbClr val="68757E"/>
                </a:solidFill>
                <a:latin typeface="Segoe UI"/>
              </a:rPr>
              <a:t>10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AAE45"/>
                </a:solidFill>
                <a:latin typeface="Segoe UI"/>
              </a:rPr>
              <a:t>WHAT IT 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59736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450" b="0" i="0">
                <a:solidFill>
                  <a:srgbClr val="38434C"/>
                </a:solidFill>
                <a:latin typeface="Segoe UI"/>
              </a:rPr>
              <a:t>Config-driven eval — YAML test cases + a Python provider wrapping </a:t>
            </a:r>
            <a:r>
              <a:rPr sz="1450" b="1" i="0">
                <a:solidFill>
                  <a:srgbClr val="2E9FA6"/>
                </a:solidFill>
                <a:latin typeface="Segoe UI"/>
              </a:rPr>
              <a:t>run_debate</a:t>
            </a:r>
            <a:r>
              <a:rPr sz="1450" b="0" i="0">
                <a:solidFill>
                  <a:srgbClr val="38434C"/>
                </a:solidFill>
                <a:latin typeface="Segoe UI"/>
              </a:rPr>
              <a:t>, run via a Node CLI.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6616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AAE45"/>
                </a:solidFill>
                <a:latin typeface="Segoe UI"/>
              </a:rP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77056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450" b="0" i="0">
                <a:solidFill>
                  <a:srgbClr val="38434C"/>
                </a:solidFill>
                <a:latin typeface="Segoe UI"/>
              </a:rPr>
              <a:t>Declare </a:t>
            </a:r>
            <a:r>
              <a:rPr sz="1450" b="1" i="0">
                <a:solidFill>
                  <a:srgbClr val="2E9FA6"/>
                </a:solidFill>
                <a:latin typeface="Segoe UI"/>
              </a:rPr>
              <a:t>llm-rubric</a:t>
            </a:r>
            <a:r>
              <a:rPr sz="1450" b="0" i="0">
                <a:solidFill>
                  <a:srgbClr val="38434C"/>
                </a:solidFill>
                <a:latin typeface="Segoe UI"/>
              </a:rPr>
              <a:t> asserts (Claude grader) + </a:t>
            </a:r>
            <a:r>
              <a:rPr sz="1450" b="1" i="0">
                <a:solidFill>
                  <a:srgbClr val="2E9FA6"/>
                </a:solidFill>
                <a:latin typeface="Segoe UI"/>
              </a:rPr>
              <a:t>javascript</a:t>
            </a:r>
            <a:r>
              <a:rPr sz="1450" b="0" i="0">
                <a:solidFill>
                  <a:srgbClr val="38434C"/>
                </a:solidFill>
                <a:latin typeface="Segoe UI"/>
              </a:rPr>
              <a:t> deterministic asserts (winner valid, word caps) → HTML report grid.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14884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AAE45"/>
                </a:solidFill>
                <a:latin typeface="Segoe UI"/>
              </a:rPr>
              <a:t>STRENGTHS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459736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450" b="0" i="0">
                <a:solidFill>
                  <a:srgbClr val="38434C"/>
                </a:solidFill>
                <a:latin typeface="Segoe UI"/>
              </a:rPr>
              <a:t>Declarative and readable, polished local HTML report, no pip dependency (uses Node).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56616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AAE45"/>
                </a:solidFill>
                <a:latin typeface="Segoe UI"/>
              </a:rPr>
              <a:t>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877056"/>
            <a:ext cx="52120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450" b="0" i="0">
                <a:solidFill>
                  <a:srgbClr val="38434C"/>
                </a:solidFill>
                <a:latin typeface="Segoe UI"/>
              </a:rPr>
              <a:t>Needs a Node toolchain; another tool's conventions to learn.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937760"/>
            <a:ext cx="5212080" cy="868680"/>
          </a:xfrm>
          <a:prstGeom prst="roundRect">
            <a:avLst>
              <a:gd name="adj" fmla="val 8000"/>
            </a:avLst>
          </a:prstGeom>
          <a:solidFill>
            <a:srgbClr val="E8F6EF"/>
          </a:solidFill>
          <a:ln w="12700">
            <a:solidFill>
              <a:srgbClr val="CFE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5084064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E9FA6"/>
                </a:solidFill>
                <a:latin typeface="Segoe UI"/>
              </a:rPr>
              <a:t>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5358384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38434C"/>
                </a:solidFill>
                <a:latin typeface="Segoe UI"/>
              </a:rPr>
              <a:t>Nice when you want </a:t>
            </a:r>
            <a:r>
              <a:rPr sz="1400" b="1" i="0">
                <a:solidFill>
                  <a:srgbClr val="38434C"/>
                </a:solidFill>
                <a:latin typeface="Segoe UI"/>
              </a:rPr>
              <a:t>declarative config + a visual report.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969264"/>
            <a:ext cx="100584" cy="960120"/>
          </a:xfrm>
          <a:prstGeom prst="rect">
            <a:avLst/>
          </a:prstGeom>
          <a:solidFill>
            <a:srgbClr val="6FB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5AAE45"/>
                </a:solidFill>
                <a:latin typeface="Segoe UI"/>
              </a:rPr>
              <a:t>PART 1 ·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932688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2E9FA6"/>
                </a:solidFill>
                <a:latin typeface="Segoe UI"/>
              </a:rPr>
              <a:t>How the Three Options Compare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700784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500" b="0" i="0">
                <a:solidFill>
                  <a:srgbClr val="68757E"/>
                </a:solidFill>
                <a:latin typeface="Segoe UI"/>
              </a:rPr>
              <a:t>Same job, different harness — here's where each one wins.</a:t>
            </a:r>
          </a:p>
        </p:txBody>
      </p:sp>
      <p:pic>
        <p:nvPicPr>
          <p:cNvPr id="6" name="Picture 5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84048"/>
            <a:ext cx="1737360" cy="5335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9AA6AD"/>
                </a:solidFill>
                <a:latin typeface="Segoe UI"/>
              </a:rPr>
              <a:t>Testing &amp; Deploying an Agentic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19088"/>
            <a:ext cx="2816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>
                <a:solidFill>
                  <a:srgbClr val="68757E"/>
                </a:solidFill>
                <a:latin typeface="Segoe UI"/>
              </a:rPr>
              <a:t>11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9544" y="2395728"/>
            <a:ext cx="2673095" cy="530352"/>
          </a:xfrm>
          <a:prstGeom prst="roundRect">
            <a:avLst>
              <a:gd name="adj" fmla="val 8000"/>
            </a:avLst>
          </a:prstGeom>
          <a:solidFill>
            <a:srgbClr val="EEF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9544" y="2395728"/>
            <a:ext cx="267309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5AAE45"/>
                </a:solidFill>
                <a:latin typeface="Segoe UI"/>
              </a:rPr>
              <a:t>Custom pytest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367" y="2395728"/>
            <a:ext cx="2673095" cy="530352"/>
          </a:xfrm>
          <a:prstGeom prst="roundRect">
            <a:avLst>
              <a:gd name="adj" fmla="val 8000"/>
            </a:avLst>
          </a:prstGeom>
          <a:solidFill>
            <a:srgbClr val="E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92367" y="2395728"/>
            <a:ext cx="267309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E9FA6"/>
                </a:solidFill>
                <a:latin typeface="Segoe UI"/>
              </a:rPr>
              <a:t>LangSmith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5192" y="2395728"/>
            <a:ext cx="2673095" cy="530352"/>
          </a:xfrm>
          <a:prstGeom prst="roundRect">
            <a:avLst>
              <a:gd name="adj" fmla="val 8000"/>
            </a:avLst>
          </a:prstGeom>
          <a:solidFill>
            <a:srgbClr val="F1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775192" y="2395728"/>
            <a:ext cx="2673095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6A5AA8"/>
                </a:solidFill>
                <a:latin typeface="Segoe UI"/>
              </a:rPr>
              <a:t>deepeval / promptfoo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3054096"/>
            <a:ext cx="23591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38434C"/>
                </a:solidFill>
                <a:latin typeface="Segoe UI"/>
              </a:rPr>
              <a:t>New dependency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4408" y="3054096"/>
            <a:ext cx="256336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5AAE45"/>
                </a:solidFill>
                <a:latin typeface="Segoe UI"/>
              </a:rPr>
              <a:t>None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7232" y="3054096"/>
            <a:ext cx="256336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68757E"/>
                </a:solidFill>
                <a:latin typeface="Segoe UI"/>
              </a:rPr>
              <a:t>Already present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0055" y="3054096"/>
            <a:ext cx="256336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68757E"/>
                </a:solidFill>
                <a:latin typeface="Segoe UI"/>
              </a:rPr>
              <a:t>Adds a library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483864"/>
            <a:ext cx="10817351" cy="457200"/>
          </a:xfrm>
          <a:prstGeom prst="rect">
            <a:avLst/>
          </a:prstGeom>
          <a:solidFill>
            <a:srgbClr val="FA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664" y="3511296"/>
            <a:ext cx="23591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38434C"/>
                </a:solidFill>
                <a:latin typeface="Segoe UI"/>
              </a:rPr>
              <a:t>Offline / privacy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64408" y="3511296"/>
            <a:ext cx="256336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5AAE45"/>
                </a:solidFill>
                <a:latin typeface="Segoe UI"/>
              </a:rPr>
              <a:t>Fully 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47232" y="3511296"/>
            <a:ext cx="256336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68757E"/>
                </a:solidFill>
                <a:latin typeface="Segoe UI"/>
              </a:rPr>
              <a:t>Data leaves machine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0055" y="3511296"/>
            <a:ext cx="256336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68757E"/>
                </a:solidFill>
                <a:latin typeface="Segoe UI"/>
              </a:rPr>
              <a:t>Mostly local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" y="3968496"/>
            <a:ext cx="23591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38434C"/>
                </a:solidFill>
                <a:latin typeface="Segoe UI"/>
              </a:rPr>
              <a:t>Scoring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64408" y="3968496"/>
            <a:ext cx="256336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5AAE45"/>
                </a:solidFill>
                <a:latin typeface="Segoe UI"/>
              </a:rPr>
              <a:t>Own every metric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47232" y="3968496"/>
            <a:ext cx="256336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68757E"/>
                </a:solidFill>
                <a:latin typeface="Segoe UI"/>
              </a:rPr>
              <a:t>Custom evaluators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0055" y="3968496"/>
            <a:ext cx="256336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68757E"/>
                </a:solidFill>
                <a:latin typeface="Segoe UI"/>
              </a:rPr>
              <a:t>Prebuilt rubrics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398264"/>
            <a:ext cx="10817351" cy="457200"/>
          </a:xfrm>
          <a:prstGeom prst="rect">
            <a:avLst/>
          </a:prstGeom>
          <a:solidFill>
            <a:srgbClr val="FA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0664" y="4425696"/>
            <a:ext cx="23591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38434C"/>
                </a:solidFill>
                <a:latin typeface="Segoe UI"/>
              </a:rPr>
              <a:t>Dashboards &amp; traces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64408" y="4425696"/>
            <a:ext cx="256336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68757E"/>
                </a:solidFill>
                <a:latin typeface="Segoe UI"/>
              </a:rPr>
              <a:t>Build your 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47232" y="4425696"/>
            <a:ext cx="256336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5AAE45"/>
                </a:solidFill>
                <a:latin typeface="Segoe UI"/>
              </a:rPr>
              <a:t>Hosted + free traces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30055" y="4425696"/>
            <a:ext cx="256336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68757E"/>
                </a:solidFill>
                <a:latin typeface="Segoe UI"/>
              </a:rPr>
              <a:t>Local HTML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" y="4882896"/>
            <a:ext cx="23591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38434C"/>
                </a:solidFill>
                <a:latin typeface="Segoe UI"/>
              </a:rPr>
              <a:t>Regression history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64408" y="4882896"/>
            <a:ext cx="256336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68757E"/>
                </a:solidFill>
                <a:latin typeface="Segoe UI"/>
              </a:rPr>
              <a:t>Manual JSON diff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47232" y="4882896"/>
            <a:ext cx="256336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5AAE45"/>
                </a:solidFill>
                <a:latin typeface="Segoe UI"/>
              </a:rPr>
              <a:t>Versioned &amp; hosted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0055" y="4882896"/>
            <a:ext cx="256336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68757E"/>
                </a:solidFill>
                <a:latin typeface="Segoe UI"/>
              </a:rPr>
              <a:t>Stored runs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5312664"/>
            <a:ext cx="10817351" cy="457200"/>
          </a:xfrm>
          <a:prstGeom prst="rect">
            <a:avLst/>
          </a:prstGeom>
          <a:solidFill>
            <a:srgbClr val="FA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0664" y="5340096"/>
            <a:ext cx="23591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38434C"/>
                </a:solidFill>
                <a:latin typeface="Segoe UI"/>
              </a:rPr>
              <a:t>CI fit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64408" y="5340096"/>
            <a:ext cx="256336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5AAE45"/>
                </a:solidFill>
                <a:latin typeface="Segoe UI"/>
              </a:rPr>
              <a:t>Excellent — is pytest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47232" y="5340096"/>
            <a:ext cx="256336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68757E"/>
                </a:solidFill>
                <a:latin typeface="Segoe UI"/>
              </a:rPr>
              <a:t>Needs key + network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30055" y="5340096"/>
            <a:ext cx="256336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68757E"/>
                </a:solidFill>
                <a:latin typeface="Segoe UI"/>
              </a:rPr>
              <a:t>Needs Node / lib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" y="5797296"/>
            <a:ext cx="23591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38434C"/>
                </a:solidFill>
                <a:latin typeface="Segoe UI"/>
              </a:rPr>
              <a:t>Best 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64408" y="5797296"/>
            <a:ext cx="256336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5AAE45"/>
                </a:solidFill>
                <a:latin typeface="Segoe UI"/>
              </a:rPr>
              <a:t>Zero-dep CI gate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47232" y="5797296"/>
            <a:ext cx="256336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5AAE45"/>
                </a:solidFill>
                <a:latin typeface="Segoe UI"/>
              </a:rPr>
              <a:t>Tracing &amp; history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0055" y="5797296"/>
            <a:ext cx="2563367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5AAE45"/>
                </a:solidFill>
                <a:latin typeface="Segoe UI"/>
              </a:rPr>
              <a:t>Declarative rubrics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969264"/>
            <a:ext cx="100584" cy="786384"/>
          </a:xfrm>
          <a:prstGeom prst="rect">
            <a:avLst/>
          </a:prstGeom>
          <a:solidFill>
            <a:srgbClr val="6FB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5AAE45"/>
                </a:solidFill>
                <a:latin typeface="Segoe UI"/>
              </a:rPr>
              <a:t>PART 1 ·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932688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2E9FA6"/>
                </a:solidFill>
                <a:latin typeface="Segoe UI"/>
              </a:rPr>
              <a:t>Testing: The Recommendation</a:t>
            </a:r>
          </a:p>
        </p:txBody>
      </p:sp>
      <p:pic>
        <p:nvPicPr>
          <p:cNvPr id="5" name="Picture 4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84048"/>
            <a:ext cx="1737360" cy="5335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9AA6AD"/>
                </a:solidFill>
                <a:latin typeface="Segoe UI"/>
              </a:rPr>
              <a:t>Testing &amp; Deploying an Agentic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19088"/>
            <a:ext cx="2816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>
                <a:solidFill>
                  <a:srgbClr val="68757E"/>
                </a:solidFill>
                <a:latin typeface="Segoe UI"/>
              </a:rPr>
              <a:t>12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40280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E8F6EF"/>
          </a:solidFill>
          <a:ln w="12700">
            <a:solidFill>
              <a:srgbClr val="CFE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2551176"/>
            <a:ext cx="2871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E9FA6"/>
                </a:solidFill>
                <a:latin typeface="Segoe UI"/>
              </a:rPr>
              <a:t>DEFAULT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935224"/>
            <a:ext cx="28712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 i="0">
                <a:solidFill>
                  <a:srgbClr val="38434C"/>
                </a:solidFill>
                <a:latin typeface="Segoe UI"/>
              </a:rPr>
              <a:t>Custom pytest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557016"/>
            <a:ext cx="2871215" cy="466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0" i="0">
                <a:solidFill>
                  <a:srgbClr val="68757E"/>
                </a:solidFill>
                <a:latin typeface="Segoe UI"/>
              </a:rPr>
              <a:t>Zero-cost, offline, enforced on every release. Start here.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2240280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F1F7F5"/>
          </a:solidFill>
          <a:ln w="12700">
            <a:solidFill>
              <a:srgbClr val="E0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54296" y="2551176"/>
            <a:ext cx="2871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E9FA6"/>
                </a:solidFill>
                <a:latin typeface="Segoe UI"/>
              </a:rPr>
              <a:t>ADD WHEN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4296" y="2935224"/>
            <a:ext cx="28712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 i="0">
                <a:solidFill>
                  <a:srgbClr val="38434C"/>
                </a:solidFill>
                <a:latin typeface="Segoe UI"/>
              </a:rPr>
              <a:t>LangSmith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3557016"/>
            <a:ext cx="2871215" cy="466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0" i="0">
                <a:solidFill>
                  <a:srgbClr val="68757E"/>
                </a:solidFill>
                <a:latin typeface="Segoe UI"/>
              </a:rPr>
              <a:t>For regression history and per-node performance over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5" y="2240280"/>
            <a:ext cx="3456432" cy="1965960"/>
          </a:xfrm>
          <a:prstGeom prst="roundRect">
            <a:avLst>
              <a:gd name="adj" fmla="val 8000"/>
            </a:avLst>
          </a:prstGeom>
          <a:solidFill>
            <a:srgbClr val="F1F7F5"/>
          </a:solidFill>
          <a:ln w="12700">
            <a:solidFill>
              <a:srgbClr val="E0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0183" y="2551176"/>
            <a:ext cx="2871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E9FA6"/>
                </a:solidFill>
                <a:latin typeface="Segoe UI"/>
              </a:rPr>
              <a:t>OPTIONAL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2935224"/>
            <a:ext cx="28712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 i="0">
                <a:solidFill>
                  <a:srgbClr val="38434C"/>
                </a:solidFill>
                <a:latin typeface="Segoe UI"/>
              </a:rPr>
              <a:t>deepeval / promptfoo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3557016"/>
            <a:ext cx="2871215" cy="466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0" i="0">
                <a:solidFill>
                  <a:srgbClr val="68757E"/>
                </a:solidFill>
                <a:latin typeface="Segoe UI"/>
              </a:rPr>
              <a:t>Proof the system can be scored by third-party tooling without forking.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407408"/>
            <a:ext cx="10817352" cy="1828800"/>
          </a:xfrm>
          <a:prstGeom prst="roundRect">
            <a:avLst>
              <a:gd name="adj" fmla="val 8000"/>
            </a:avLst>
          </a:prstGeom>
          <a:solidFill>
            <a:srgbClr val="E8F6EF"/>
          </a:solidFill>
          <a:ln w="12700">
            <a:solidFill>
              <a:srgbClr val="CFE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590288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50" b="1" i="0">
                <a:solidFill>
                  <a:srgbClr val="38434C"/>
                </a:solidFill>
                <a:latin typeface="Segoe UI"/>
              </a:rPr>
              <a:t>The bottom line: turn subjective quality into a release 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50" b="0" i="0">
                <a:solidFill>
                  <a:srgbClr val="68757E"/>
                </a:solidFill>
                <a:latin typeface="Segoe UI"/>
              </a:rPr>
              <a:t>CI runs the evals on every change. If scores fall below thresholds you set, the release is </a:t>
            </a:r>
            <a:r>
              <a:rPr sz="1250" b="1" i="0">
                <a:solidFill>
                  <a:srgbClr val="38434C"/>
                </a:solidFill>
                <a:latin typeface="Segoe UI"/>
              </a:rPr>
              <a:t>blocked automatically</a:t>
            </a:r>
            <a:r>
              <a:rPr sz="1250" b="0" i="0">
                <a:solidFill>
                  <a:srgbClr val="68757E"/>
                </a:solidFill>
                <a:latin typeface="Segoe UI"/>
              </a:rPr>
              <a:t> — no human eyeballing each debate.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5367528"/>
            <a:ext cx="49377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170432" y="5586984"/>
            <a:ext cx="1536192" cy="310896"/>
          </a:xfrm>
          <a:prstGeom prst="roundRect">
            <a:avLst>
              <a:gd name="adj" fmla="val 8000"/>
            </a:avLst>
          </a:prstGeom>
          <a:solidFill>
            <a:srgbClr val="EEF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70432" y="5614416"/>
            <a:ext cx="153619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>
                <a:solidFill>
                  <a:srgbClr val="5AAE45"/>
                </a:solidFill>
                <a:latin typeface="Segoe UI"/>
              </a:rPr>
              <a:t>Deterministic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547725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38434C"/>
                </a:solidFill>
                <a:latin typeface="Segoe UI"/>
              </a:rPr>
              <a:t>winner-valid ≥ 90%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5769864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050" b="0" i="0">
                <a:solidFill>
                  <a:srgbClr val="68757E"/>
                </a:solidFill>
                <a:latin typeface="Segoe UI"/>
              </a:rPr>
              <a:t>≥90% of test debates parsed a valid Pro/Con winner (a hard fact).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5367528"/>
            <a:ext cx="49377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565392" y="5586984"/>
            <a:ext cx="1298448" cy="310896"/>
          </a:xfrm>
          <a:prstGeom prst="roundRect">
            <a:avLst>
              <a:gd name="adj" fmla="val 8000"/>
            </a:avLst>
          </a:prstGeom>
          <a:solidFill>
            <a:srgbClr val="E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65392" y="5614416"/>
            <a:ext cx="129844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>
                <a:solidFill>
                  <a:srgbClr val="2E9FA6"/>
                </a:solidFill>
                <a:latin typeface="Segoe UI"/>
              </a:rPr>
              <a:t>LLM-judge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5477256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38434C"/>
                </a:solidFill>
                <a:latin typeface="Segoe UI"/>
              </a:rPr>
              <a:t>mean relevance ≥ 3.5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5769864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</a:pPr>
            <a:r>
              <a:rPr sz="1050" b="0" i="0">
                <a:solidFill>
                  <a:srgbClr val="68757E"/>
                </a:solidFill>
                <a:latin typeface="Segoe UI"/>
              </a:rPr>
              <a:t>judge's average relevance across the set, ≥ 3.5 out of 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969264"/>
            <a:ext cx="100584" cy="960120"/>
          </a:xfrm>
          <a:prstGeom prst="rect">
            <a:avLst/>
          </a:prstGeom>
          <a:solidFill>
            <a:srgbClr val="6FB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5AAE45"/>
                </a:solidFill>
                <a:latin typeface="Segoe UI"/>
              </a:rPr>
              <a:t>PART 2 ·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932688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2E9FA6"/>
                </a:solidFill>
                <a:latin typeface="Segoe UI"/>
              </a:rPr>
              <a:t>Deployment: The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700784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500" b="0" i="0">
                <a:solidFill>
                  <a:srgbClr val="68757E"/>
                </a:solidFill>
                <a:latin typeface="Segoe UI"/>
              </a:rPr>
              <a:t>Managed = speed &amp; convenience. Self-hosted = control &amp; privacy, at the cost of building the resilience machinery yourself.</a:t>
            </a:r>
          </a:p>
        </p:txBody>
      </p:sp>
      <p:pic>
        <p:nvPicPr>
          <p:cNvPr id="6" name="Picture 5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84048"/>
            <a:ext cx="1737360" cy="5335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9AA6AD"/>
                </a:solidFill>
                <a:latin typeface="Segoe UI"/>
              </a:rPr>
              <a:t>Testing &amp; Deploying an Agentic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19088"/>
            <a:ext cx="2816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>
                <a:solidFill>
                  <a:srgbClr val="68757E"/>
                </a:solidFill>
                <a:latin typeface="Segoe UI"/>
              </a:rPr>
              <a:t>13 /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14600"/>
            <a:ext cx="3456432" cy="3108960"/>
          </a:xfrm>
          <a:prstGeom prst="roundRect">
            <a:avLst>
              <a:gd name="adj" fmla="val 8000"/>
            </a:avLst>
          </a:prstGeom>
          <a:solidFill>
            <a:srgbClr val="F1F7F5"/>
          </a:solidFill>
          <a:ln w="12700">
            <a:solidFill>
              <a:srgbClr val="E0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8" y="2825496"/>
            <a:ext cx="2871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E9FA6"/>
                </a:solidFill>
                <a:latin typeface="Segoe UI"/>
              </a:rPr>
              <a:t>MANAGED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209544"/>
            <a:ext cx="28712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 i="0">
                <a:solidFill>
                  <a:srgbClr val="38434C"/>
                </a:solidFill>
                <a:latin typeface="Segoe UI"/>
              </a:rPr>
              <a:t>LangSmith / LangGraph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4169663"/>
            <a:ext cx="2871215" cy="1271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0" i="0">
                <a:solidFill>
                  <a:srgbClr val="68757E"/>
                </a:solidFill>
                <a:latin typeface="Segoe UI"/>
              </a:rPr>
              <a:t>Hosted agent server — durable state and streaming handled for you. Fastest path; vendor lock-in + Enterprise license to self-host the server.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2514600"/>
            <a:ext cx="3456432" cy="3108960"/>
          </a:xfrm>
          <a:prstGeom prst="roundRect">
            <a:avLst>
              <a:gd name="adj" fmla="val 8000"/>
            </a:avLst>
          </a:prstGeom>
          <a:solidFill>
            <a:srgbClr val="F1F7F5"/>
          </a:solidFill>
          <a:ln w="12700">
            <a:solidFill>
              <a:srgbClr val="E0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54296" y="2825496"/>
            <a:ext cx="2871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E9FA6"/>
                </a:solidFill>
                <a:latin typeface="Segoe UI"/>
              </a:rPr>
              <a:t>MANAGED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3209544"/>
            <a:ext cx="28712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 i="0">
                <a:solidFill>
                  <a:srgbClr val="38434C"/>
                </a:solidFill>
                <a:latin typeface="Segoe UI"/>
              </a:rPr>
              <a:t>Google ADK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3831335"/>
            <a:ext cx="2871215" cy="1609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0" i="0">
                <a:solidFill>
                  <a:srgbClr val="68757E"/>
                </a:solidFill>
                <a:latin typeface="Segoe UI"/>
              </a:rPr>
              <a:t>Google's managed agent runtime (Vertex Agent Engine). Cloud-native, scales for you — ties you to GCP.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7575" y="2514600"/>
            <a:ext cx="3456432" cy="3108960"/>
          </a:xfrm>
          <a:prstGeom prst="roundRect">
            <a:avLst>
              <a:gd name="adj" fmla="val 8000"/>
            </a:avLst>
          </a:prstGeom>
          <a:solidFill>
            <a:srgbClr val="E8F6EF"/>
          </a:solidFill>
          <a:ln w="12700">
            <a:solidFill>
              <a:srgbClr val="CFE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0183" y="2825496"/>
            <a:ext cx="28712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E9FA6"/>
                </a:solidFill>
                <a:latin typeface="Segoe UI"/>
              </a:rPr>
              <a:t>SELF-HOSTED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3209544"/>
            <a:ext cx="28712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 i="0">
                <a:solidFill>
                  <a:srgbClr val="38434C"/>
                </a:solidFill>
                <a:latin typeface="Segoe UI"/>
              </a:rPr>
              <a:t>Roll our 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3831335"/>
            <a:ext cx="2871215" cy="1609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0" i="0">
                <a:solidFill>
                  <a:srgbClr val="68757E"/>
                </a:solidFill>
                <a:latin typeface="Segoe UI"/>
              </a:rPr>
              <a:t>Full control and privacy. You must solve durability, streaming, and failover — the next slides show how.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969264"/>
            <a:ext cx="100584" cy="786384"/>
          </a:xfrm>
          <a:prstGeom prst="rect">
            <a:avLst/>
          </a:prstGeom>
          <a:solidFill>
            <a:srgbClr val="6FB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5AAE45"/>
                </a:solidFill>
                <a:latin typeface="Segoe UI"/>
              </a:rPr>
              <a:t>PART 2 ·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932688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2E9FA6"/>
                </a:solidFill>
                <a:latin typeface="Segoe UI"/>
              </a:rPr>
              <a:t>The Self-Hosting Challenge: Life Without Redis</a:t>
            </a:r>
          </a:p>
        </p:txBody>
      </p:sp>
      <p:pic>
        <p:nvPicPr>
          <p:cNvPr id="5" name="Picture 4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84048"/>
            <a:ext cx="1737360" cy="5335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9AA6AD"/>
                </a:solidFill>
                <a:latin typeface="Segoe UI"/>
              </a:rPr>
              <a:t>Testing &amp; Deploying an Agentic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19088"/>
            <a:ext cx="2816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>
                <a:solidFill>
                  <a:srgbClr val="68757E"/>
                </a:solidFill>
                <a:latin typeface="Segoe UI"/>
              </a:rPr>
              <a:t>14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94560"/>
            <a:ext cx="5166360" cy="3383280"/>
          </a:xfrm>
          <a:prstGeom prst="roundRect">
            <a:avLst>
              <a:gd name="adj" fmla="val 8000"/>
            </a:avLst>
          </a:prstGeom>
          <a:solidFill>
            <a:srgbClr val="F1F7F5"/>
          </a:solidFill>
          <a:ln w="12700">
            <a:solidFill>
              <a:srgbClr val="E0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2505456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C0392B"/>
                </a:solidFill>
                <a:latin typeface="Segoe UI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852928"/>
            <a:ext cx="4617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 i="0">
                <a:solidFill>
                  <a:srgbClr val="38434C"/>
                </a:solidFill>
                <a:latin typeface="Segoe UI"/>
              </a:rPr>
              <a:t>Streaming is glued to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429000"/>
            <a:ext cx="46177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300" b="0" i="0">
                <a:solidFill>
                  <a:srgbClr val="68757E"/>
                </a:solidFill>
                <a:latin typeface="Segoe UI"/>
              </a:rPr>
              <a:t>A single node couples graph execution and the client's live stream into one process.
Behind a load balancer, the node a user is watching may not be the node doing the work — and there's no way to relay between them. The connection drops, the live view dies.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94560"/>
            <a:ext cx="5166360" cy="3383280"/>
          </a:xfrm>
          <a:prstGeom prst="roundRect">
            <a:avLst>
              <a:gd name="adj" fmla="val 8000"/>
            </a:avLst>
          </a:prstGeom>
          <a:solidFill>
            <a:srgbClr val="E8F6EF"/>
          </a:solidFill>
          <a:ln w="12700">
            <a:solidFill>
              <a:srgbClr val="CFE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8" y="2505456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E9FA6"/>
                </a:solidFill>
                <a:latin typeface="Segoe UI"/>
              </a:rPr>
              <a:t>THE 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852928"/>
            <a:ext cx="4617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 i="0">
                <a:solidFill>
                  <a:srgbClr val="38434C"/>
                </a:solidFill>
                <a:latin typeface="Segoe UI"/>
              </a:rPr>
              <a:t>Redis pub/sub decouples them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3429000"/>
            <a:ext cx="46177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8757E"/>
                </a:solidFill>
                <a:latin typeface="Segoe UI"/>
              </a:rPr>
              <a:t>A channel per run separates "who streams to the user" from "who executes the agent." </a:t>
            </a:r>
            <a:r>
              <a:rPr sz="1300" b="1" i="0">
                <a:solidFill>
                  <a:srgbClr val="38434C"/>
                </a:solidFill>
                <a:latin typeface="Segoe UI"/>
              </a:rPr>
              <a:t>Any node can relay any run.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endParaRPr sz="1300" b="1" i="0">
              <a:solidFill>
                <a:srgbClr val="38434C"/>
              </a:solidFill>
              <a:latin typeface="Segoe UI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8757E"/>
                </a:solidFill>
                <a:latin typeface="Segoe UI"/>
              </a:rPr>
              <a:t>Pair it with durable state (</a:t>
            </a:r>
            <a:r>
              <a:rPr sz="1300" b="1" i="0">
                <a:solidFill>
                  <a:srgbClr val="2E9FA6"/>
                </a:solidFill>
                <a:latin typeface="Segoe UI"/>
              </a:rPr>
              <a:t>Postgres checkpoints</a:t>
            </a:r>
            <a:r>
              <a:rPr sz="1300" b="0" i="0">
                <a:solidFill>
                  <a:srgbClr val="68757E"/>
                </a:solidFill>
                <a:latin typeface="Segoe UI"/>
              </a:rPr>
              <a:t>) so a dead executor can be resumed — Redis alone fixes streaming, not execution recovery.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969264"/>
            <a:ext cx="100584" cy="960120"/>
          </a:xfrm>
          <a:prstGeom prst="rect">
            <a:avLst/>
          </a:prstGeom>
          <a:solidFill>
            <a:srgbClr val="6FB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5AAE45"/>
                </a:solidFill>
                <a:latin typeface="Segoe UI"/>
              </a:rPr>
              <a:t>PART 2 ·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932688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2E9FA6"/>
                </a:solidFill>
                <a:latin typeface="Segoe UI"/>
              </a:rPr>
              <a:t>The Reference Architecture (with Redis)</a:t>
            </a:r>
          </a:p>
        </p:txBody>
      </p:sp>
      <p:pic>
        <p:nvPicPr>
          <p:cNvPr id="6" name="Picture 5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84048"/>
            <a:ext cx="1737360" cy="5335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9AA6AD"/>
                </a:solidFill>
                <a:latin typeface="Segoe UI"/>
              </a:rPr>
              <a:t>Testing &amp; Deploying an Agentic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419088"/>
            <a:ext cx="2816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>
                <a:solidFill>
                  <a:srgbClr val="68757E"/>
                </a:solidFill>
                <a:latin typeface="Segoe UI"/>
              </a:rPr>
              <a:t>15 / 17</a:t>
            </a:r>
          </a:p>
        </p:txBody>
      </p:sp>
      <p:pic>
        <p:nvPicPr>
          <p:cNvPr id="30" name="Picture 29" descr="Architecture diagram showing AWS relations to LangSmith services">
            <a:extLst>
              <a:ext uri="{FF2B5EF4-FFF2-40B4-BE49-F238E27FC236}">
                <a16:creationId xmlns:a16="http://schemas.microsoft.com/office/drawing/2014/main" id="{9398D93A-408B-E8D4-8630-72729E2EC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497" y="1412748"/>
            <a:ext cx="754700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56A7E-AE06-E8C4-3305-FB689C488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7AF235-5B87-778F-541E-0EBCDAA0095B}"/>
              </a:ext>
            </a:extLst>
          </p:cNvPr>
          <p:cNvSpPr/>
          <p:nvPr/>
        </p:nvSpPr>
        <p:spPr>
          <a:xfrm>
            <a:off x="685800" y="969264"/>
            <a:ext cx="100584" cy="960120"/>
          </a:xfrm>
          <a:prstGeom prst="rect">
            <a:avLst/>
          </a:prstGeom>
          <a:solidFill>
            <a:srgbClr val="6FB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E9FE89-14F7-78B4-EBCE-FB03375F0734}"/>
              </a:ext>
            </a:extLst>
          </p:cNvPr>
          <p:cNvSpPr txBox="1"/>
          <p:nvPr/>
        </p:nvSpPr>
        <p:spPr>
          <a:xfrm>
            <a:off x="685800" y="5669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5AAE45"/>
                </a:solidFill>
                <a:latin typeface="Segoe UI"/>
              </a:rPr>
              <a:t>PART 2 · DEPLOYMENT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8B5A03-4438-5DDB-7E2E-7FCDEF8EFD74}"/>
              </a:ext>
            </a:extLst>
          </p:cNvPr>
          <p:cNvSpPr txBox="1"/>
          <p:nvPr/>
        </p:nvSpPr>
        <p:spPr>
          <a:xfrm>
            <a:off x="932688" y="932688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2E9FA6"/>
                </a:solidFill>
                <a:latin typeface="Segoe UI"/>
              </a:rPr>
              <a:t>The Reference Architecture (with Redis)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010686-C3FC-557A-2060-633D0F065217}"/>
              </a:ext>
            </a:extLst>
          </p:cNvPr>
          <p:cNvSpPr txBox="1"/>
          <p:nvPr/>
        </p:nvSpPr>
        <p:spPr>
          <a:xfrm>
            <a:off x="932688" y="1700784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500" b="0" i="0">
                <a:solidFill>
                  <a:srgbClr val="68757E"/>
                </a:solidFill>
                <a:latin typeface="Segoe UI"/>
              </a:rPr>
              <a:t>A hand-rolled version of the official LangGraph Agent Server — the same two building blocks it uses.</a:t>
            </a:r>
          </a:p>
        </p:txBody>
      </p:sp>
      <p:pic>
        <p:nvPicPr>
          <p:cNvPr id="6" name="Picture 5" descr="logo-color.png">
            <a:extLst>
              <a:ext uri="{FF2B5EF4-FFF2-40B4-BE49-F238E27FC236}">
                <a16:creationId xmlns:a16="http://schemas.microsoft.com/office/drawing/2014/main" id="{0278DDB9-E6B7-EB55-AE2E-D458B4DBC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84048"/>
            <a:ext cx="1737360" cy="5335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F19383-9787-45E4-1B09-F9D5EB4D0516}"/>
              </a:ext>
            </a:extLst>
          </p:cNvPr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9AA6AD"/>
                </a:solidFill>
                <a:latin typeface="Segoe UI"/>
              </a:rPr>
              <a:t>Testing &amp; Deploying an Agentic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1EE17B-0ADD-C51A-2622-B45814B1FD4A}"/>
              </a:ext>
            </a:extLst>
          </p:cNvPr>
          <p:cNvSpPr txBox="1"/>
          <p:nvPr/>
        </p:nvSpPr>
        <p:spPr>
          <a:xfrm>
            <a:off x="8686800" y="6419088"/>
            <a:ext cx="2816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>
                <a:solidFill>
                  <a:srgbClr val="68757E"/>
                </a:solidFill>
                <a:latin typeface="Segoe UI"/>
              </a:rPr>
              <a:t>15 / 17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B765130-9DD2-F6AF-9F76-195B61773859}"/>
              </a:ext>
            </a:extLst>
          </p:cNvPr>
          <p:cNvSpPr/>
          <p:nvPr/>
        </p:nvSpPr>
        <p:spPr>
          <a:xfrm>
            <a:off x="4267047" y="2331720"/>
            <a:ext cx="365760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0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271343-D985-3A84-D572-89F14A444242}"/>
              </a:ext>
            </a:extLst>
          </p:cNvPr>
          <p:cNvSpPr txBox="1"/>
          <p:nvPr/>
        </p:nvSpPr>
        <p:spPr>
          <a:xfrm>
            <a:off x="4267047" y="2478024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i="0" dirty="0" err="1">
                <a:solidFill>
                  <a:srgbClr val="38434C"/>
                </a:solidFill>
                <a:latin typeface="Segoe UI"/>
              </a:rPr>
              <a:t>Streamlit</a:t>
            </a:r>
            <a:r>
              <a:rPr sz="1400" b="1" i="0" dirty="0">
                <a:solidFill>
                  <a:srgbClr val="38434C"/>
                </a:solidFill>
                <a:latin typeface="Segoe UI"/>
              </a:rPr>
              <a:t> UI Client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1C4425-0348-37E5-7107-6B2DC136520E}"/>
              </a:ext>
            </a:extLst>
          </p:cNvPr>
          <p:cNvSpPr txBox="1"/>
          <p:nvPr/>
        </p:nvSpPr>
        <p:spPr>
          <a:xfrm>
            <a:off x="4267047" y="280720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8757E"/>
                </a:solidFill>
                <a:latin typeface="Segoe UI"/>
              </a:rPr>
              <a:t>POST /start  ·  GET /stream (SSE)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44BCA641-D594-440C-D456-2E354F5CE9AB}"/>
              </a:ext>
            </a:extLst>
          </p:cNvPr>
          <p:cNvSpPr/>
          <p:nvPr/>
        </p:nvSpPr>
        <p:spPr>
          <a:xfrm rot="10800000">
            <a:off x="5976975" y="3200400"/>
            <a:ext cx="261518" cy="201168"/>
          </a:xfrm>
          <a:prstGeom prst="triangle">
            <a:avLst/>
          </a:prstGeom>
          <a:solidFill>
            <a:srgbClr val="3FA9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6AB33D0-7F27-E7FA-9CEB-46349A30C1D5}"/>
              </a:ext>
            </a:extLst>
          </p:cNvPr>
          <p:cNvSpPr/>
          <p:nvPr/>
        </p:nvSpPr>
        <p:spPr>
          <a:xfrm>
            <a:off x="3078327" y="3456432"/>
            <a:ext cx="6035040" cy="777240"/>
          </a:xfrm>
          <a:prstGeom prst="roundRect">
            <a:avLst>
              <a:gd name="adj" fmla="val 8000"/>
            </a:avLst>
          </a:prstGeom>
          <a:solidFill>
            <a:srgbClr val="F2FBFC"/>
          </a:solidFill>
          <a:ln w="15875">
            <a:solidFill>
              <a:srgbClr val="B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8AA318-F993-1935-8A3D-852FF2D9C6E1}"/>
              </a:ext>
            </a:extLst>
          </p:cNvPr>
          <p:cNvSpPr txBox="1"/>
          <p:nvPr/>
        </p:nvSpPr>
        <p:spPr>
          <a:xfrm>
            <a:off x="3078327" y="3602736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38434C"/>
                </a:solidFill>
                <a:latin typeface="Segoe UI"/>
              </a:rPr>
              <a:t>Load Balancer · nginx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C87E65-D868-2B1B-D759-39D13F2D1A7D}"/>
              </a:ext>
            </a:extLst>
          </p:cNvPr>
          <p:cNvSpPr txBox="1"/>
          <p:nvPr/>
        </p:nvSpPr>
        <p:spPr>
          <a:xfrm>
            <a:off x="3078327" y="393192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8757E"/>
                </a:solidFill>
                <a:latin typeface="Segoe UI"/>
              </a:rPr>
              <a:t>routes to any node — client doesn't care which</a:t>
            </a:r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88B0B54-37C7-E8AF-E342-1884F7475A32}"/>
              </a:ext>
            </a:extLst>
          </p:cNvPr>
          <p:cNvSpPr/>
          <p:nvPr/>
        </p:nvSpPr>
        <p:spPr>
          <a:xfrm rot="10800000">
            <a:off x="5976975" y="4297680"/>
            <a:ext cx="261518" cy="201168"/>
          </a:xfrm>
          <a:prstGeom prst="triangle">
            <a:avLst/>
          </a:prstGeom>
          <a:solidFill>
            <a:srgbClr val="3FA9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E4C97F9-EDA3-8E4E-8C5A-83CB5754C87F}"/>
              </a:ext>
            </a:extLst>
          </p:cNvPr>
          <p:cNvSpPr/>
          <p:nvPr/>
        </p:nvSpPr>
        <p:spPr>
          <a:xfrm>
            <a:off x="3261207" y="4526280"/>
            <a:ext cx="18288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E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4BDB48-A670-EBD3-4838-55967885731A}"/>
              </a:ext>
            </a:extLst>
          </p:cNvPr>
          <p:cNvSpPr txBox="1"/>
          <p:nvPr/>
        </p:nvSpPr>
        <p:spPr>
          <a:xfrm>
            <a:off x="3261207" y="46451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38434C"/>
                </a:solidFill>
                <a:latin typeface="Segoe UI"/>
              </a:rPr>
              <a:t>debate-node 1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587530E-D5C2-37F7-0D99-256968037DF5}"/>
              </a:ext>
            </a:extLst>
          </p:cNvPr>
          <p:cNvSpPr/>
          <p:nvPr/>
        </p:nvSpPr>
        <p:spPr>
          <a:xfrm>
            <a:off x="5181447" y="4526280"/>
            <a:ext cx="18288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E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4D9757-EE33-22C3-17E0-D8F20A5B260E}"/>
              </a:ext>
            </a:extLst>
          </p:cNvPr>
          <p:cNvSpPr txBox="1"/>
          <p:nvPr/>
        </p:nvSpPr>
        <p:spPr>
          <a:xfrm>
            <a:off x="5181447" y="46451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38434C"/>
                </a:solidFill>
                <a:latin typeface="Segoe UI"/>
              </a:rPr>
              <a:t>debate-node 2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DF1C6BB-844D-F658-3FEE-2989594CA2A6}"/>
              </a:ext>
            </a:extLst>
          </p:cNvPr>
          <p:cNvSpPr/>
          <p:nvPr/>
        </p:nvSpPr>
        <p:spPr>
          <a:xfrm>
            <a:off x="7101687" y="4526280"/>
            <a:ext cx="18288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FE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9F0BED-8144-3603-4812-B96C7850DB12}"/>
              </a:ext>
            </a:extLst>
          </p:cNvPr>
          <p:cNvSpPr txBox="1"/>
          <p:nvPr/>
        </p:nvSpPr>
        <p:spPr>
          <a:xfrm>
            <a:off x="7101687" y="464515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38434C"/>
                </a:solidFill>
                <a:latin typeface="Segoe UI"/>
              </a:rPr>
              <a:t>debate-node 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315943-A7CB-4139-2A2E-8D3C0C8A8D08}"/>
              </a:ext>
            </a:extLst>
          </p:cNvPr>
          <p:cNvSpPr txBox="1"/>
          <p:nvPr/>
        </p:nvSpPr>
        <p:spPr>
          <a:xfrm>
            <a:off x="1981047" y="517550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i="0">
                <a:solidFill>
                  <a:srgbClr val="9AA6AD"/>
                </a:solidFill>
                <a:latin typeface="Segoe UI"/>
              </a:rPr>
              <a:t>↓  checkpoint read/write &amp; ownership heartbeat   ·   publish / subscribe  ↓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7DB84ED-6CCD-5E55-D85F-CD3B50F127AB}"/>
              </a:ext>
            </a:extLst>
          </p:cNvPr>
          <p:cNvSpPr/>
          <p:nvPr/>
        </p:nvSpPr>
        <p:spPr>
          <a:xfrm>
            <a:off x="1661007" y="5504688"/>
            <a:ext cx="4297680" cy="777240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 w="15875">
            <a:solidFill>
              <a:srgbClr val="A9C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EB37BB-A265-39D2-A8F8-56D70814C97F}"/>
              </a:ext>
            </a:extLst>
          </p:cNvPr>
          <p:cNvSpPr txBox="1"/>
          <p:nvPr/>
        </p:nvSpPr>
        <p:spPr>
          <a:xfrm>
            <a:off x="1661007" y="5650992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38434C"/>
                </a:solidFill>
                <a:latin typeface="Segoe UI"/>
              </a:rPr>
              <a:t>Postgres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BC9EEE-C8CB-5435-6E67-6FC1030F9318}"/>
              </a:ext>
            </a:extLst>
          </p:cNvPr>
          <p:cNvSpPr txBox="1"/>
          <p:nvPr/>
        </p:nvSpPr>
        <p:spPr>
          <a:xfrm>
            <a:off x="1661007" y="5980175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8757E"/>
                </a:solidFill>
                <a:latin typeface="Segoe UI"/>
              </a:rPr>
              <a:t>durable checkpoints + run ownership → any node resumes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B545FDB-EE69-7C8B-CB54-1A57CA70E564}"/>
              </a:ext>
            </a:extLst>
          </p:cNvPr>
          <p:cNvSpPr/>
          <p:nvPr/>
        </p:nvSpPr>
        <p:spPr>
          <a:xfrm>
            <a:off x="6233007" y="5504688"/>
            <a:ext cx="4297680" cy="777240"/>
          </a:xfrm>
          <a:prstGeom prst="roundRect">
            <a:avLst>
              <a:gd name="adj" fmla="val 8000"/>
            </a:avLst>
          </a:prstGeom>
          <a:solidFill>
            <a:srgbClr val="FDF4F4"/>
          </a:solidFill>
          <a:ln w="15875">
            <a:solidFill>
              <a:srgbClr val="E8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EC844B-6D92-C908-413E-40AAF57F9F4C}"/>
              </a:ext>
            </a:extLst>
          </p:cNvPr>
          <p:cNvSpPr txBox="1"/>
          <p:nvPr/>
        </p:nvSpPr>
        <p:spPr>
          <a:xfrm>
            <a:off x="6233007" y="5650992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38434C"/>
                </a:solidFill>
                <a:latin typeface="Segoe UI"/>
              </a:rPr>
              <a:t>Redis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77E676-F30E-03D7-D2CF-FE245E58E7AA}"/>
              </a:ext>
            </a:extLst>
          </p:cNvPr>
          <p:cNvSpPr txBox="1"/>
          <p:nvPr/>
        </p:nvSpPr>
        <p:spPr>
          <a:xfrm>
            <a:off x="6233007" y="5980175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00" b="0" i="0">
                <a:solidFill>
                  <a:srgbClr val="68757E"/>
                </a:solidFill>
                <a:latin typeface="Segoe UI"/>
              </a:rPr>
              <a:t>pub/sub channel per run → streaming decoupled from execution</a:t>
            </a:r>
          </a:p>
        </p:txBody>
      </p:sp>
    </p:spTree>
    <p:extLst>
      <p:ext uri="{BB962C8B-B14F-4D97-AF65-F5344CB8AC3E}">
        <p14:creationId xmlns:p14="http://schemas.microsoft.com/office/powerpoint/2010/main" val="2471124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969264"/>
            <a:ext cx="100584" cy="786384"/>
          </a:xfrm>
          <a:prstGeom prst="rect">
            <a:avLst/>
          </a:prstGeom>
          <a:solidFill>
            <a:srgbClr val="6FBE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5AAE45"/>
                </a:solidFill>
                <a:latin typeface="Segoe UI"/>
              </a:rPr>
              <a:t>PART 2 ·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932688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300" b="1" i="0">
                <a:solidFill>
                  <a:srgbClr val="2E9FA6"/>
                </a:solidFill>
                <a:latin typeface="Segoe UI"/>
              </a:rPr>
              <a:t>The Payoff: Surviving a Crash</a:t>
            </a:r>
          </a:p>
        </p:txBody>
      </p:sp>
      <p:pic>
        <p:nvPicPr>
          <p:cNvPr id="5" name="Picture 4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535" y="384048"/>
            <a:ext cx="1737360" cy="5335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641908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00" b="0" i="0">
                <a:solidFill>
                  <a:srgbClr val="9AA6AD"/>
                </a:solidFill>
                <a:latin typeface="Segoe UI"/>
              </a:rPr>
              <a:t>Testing &amp; Deploying an Agentic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19088"/>
            <a:ext cx="2816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900" b="1" i="0">
                <a:solidFill>
                  <a:srgbClr val="68757E"/>
                </a:solidFill>
                <a:latin typeface="Segoe UI"/>
              </a:rPr>
              <a:t>16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10817352" cy="914400"/>
          </a:xfrm>
          <a:prstGeom prst="roundRect">
            <a:avLst>
              <a:gd name="adj" fmla="val 8000"/>
            </a:avLst>
          </a:prstGeom>
          <a:solidFill>
            <a:srgbClr val="E9F3EF"/>
          </a:solidFill>
          <a:ln w="12700">
            <a:solidFill>
              <a:srgbClr val="CFE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432304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38434C"/>
                </a:solidFill>
                <a:latin typeface="Segoe UI"/>
              </a:rPr>
              <a:t>Kill the node running a live debate — </a:t>
            </a:r>
            <a:r>
              <a:rPr sz="1700" b="1" i="0">
                <a:solidFill>
                  <a:srgbClr val="38434C"/>
                </a:solidFill>
                <a:latin typeface="Segoe UI"/>
              </a:rPr>
              <a:t>another node picks it up mid-sentence and finishes it.</a:t>
            </a:r>
            <a:r>
              <a:rPr sz="1700" b="0" i="0">
                <a:solidFill>
                  <a:srgbClr val="38434C"/>
                </a:solidFill>
                <a:latin typeface="Segoe UI"/>
              </a:rPr>
              <a:t>  The user never notices.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611880"/>
            <a:ext cx="5166360" cy="2103120"/>
          </a:xfrm>
          <a:prstGeom prst="roundRect">
            <a:avLst>
              <a:gd name="adj" fmla="val 8000"/>
            </a:avLst>
          </a:prstGeom>
          <a:solidFill>
            <a:srgbClr val="F1F7F5"/>
          </a:solidFill>
          <a:ln w="12700">
            <a:solidFill>
              <a:srgbClr val="E0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3922776"/>
            <a:ext cx="45811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E9FA6"/>
                </a:solidFill>
                <a:latin typeface="Segoe UI"/>
              </a:rPr>
              <a:t>FAILURE MODE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4306824"/>
            <a:ext cx="458114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 i="0">
                <a:solidFill>
                  <a:srgbClr val="38434C"/>
                </a:solidFill>
                <a:latin typeface="Segoe UI"/>
              </a:rPr>
              <a:t>You lose your screen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928616"/>
            <a:ext cx="458114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0" i="0">
                <a:solidFill>
                  <a:srgbClr val="68757E"/>
                </a:solidFill>
                <a:latin typeface="Segoe UI"/>
              </a:rPr>
              <a:t>The client disconnects, but the executor is fine. Redis re-attach — reconnect to the same run's channel.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611880"/>
            <a:ext cx="5166360" cy="2103120"/>
          </a:xfrm>
          <a:prstGeom prst="roundRect">
            <a:avLst>
              <a:gd name="adj" fmla="val 8000"/>
            </a:avLst>
          </a:prstGeom>
          <a:solidFill>
            <a:srgbClr val="F1F7F5"/>
          </a:solidFill>
          <a:ln w="12700">
            <a:solidFill>
              <a:srgbClr val="E0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8" y="3922776"/>
            <a:ext cx="45811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2E9FA6"/>
                </a:solidFill>
                <a:latin typeface="Segoe UI"/>
              </a:rPr>
              <a:t>FAILURE MODE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4306824"/>
            <a:ext cx="458114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 i="0">
                <a:solidFill>
                  <a:srgbClr val="38434C"/>
                </a:solidFill>
                <a:latin typeface="Segoe UI"/>
              </a:rPr>
              <a:t>You lose the worker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4928616"/>
            <a:ext cx="4581144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300" b="0" i="0">
                <a:solidFill>
                  <a:srgbClr val="68757E"/>
                </a:solidFill>
                <a:latin typeface="Segoe UI"/>
              </a:rPr>
              <a:t>The executing node dies. Its heartbeat goes stale, another node claims ownership and resumes from the Postgres checkpoint.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3ABB5"/>
              </a:gs>
              <a:gs pos="100000">
                <a:srgbClr val="74C07E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7095" y="384048"/>
            <a:ext cx="1828800" cy="5616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3716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EAF7F4"/>
                </a:solidFill>
                <a:latin typeface="Segoe UI"/>
              </a:rPr>
              <a:t>WHAT TRANSFERS TO EVERY AGENT WE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Segoe UI"/>
              </a:rPr>
              <a:t>An agent isn't ready when it </a:t>
            </a:r>
            <a:r>
              <a:rPr sz="3800" b="1" i="0">
                <a:solidFill>
                  <a:srgbClr val="F3E43A"/>
                </a:solidFill>
                <a:latin typeface="Segoe UI"/>
              </a:rPr>
              <a:t>works</a:t>
            </a:r>
            <a:r>
              <a:rPr sz="3800" b="1" i="0">
                <a:solidFill>
                  <a:srgbClr val="FFFFFF"/>
                </a:solidFill>
                <a:latin typeface="Segoe UI"/>
              </a:rPr>
              <a:t> —</a:t>
            </a:r>
          </a:p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Segoe UI"/>
              </a:rPr>
              <a:t>it's ready when it's </a:t>
            </a:r>
            <a:r>
              <a:rPr sz="3800" b="1" i="0">
                <a:solidFill>
                  <a:srgbClr val="F3E43A"/>
                </a:solidFill>
                <a:latin typeface="Segoe UI"/>
              </a:rPr>
              <a:t>measurable</a:t>
            </a:r>
            <a:r>
              <a:rPr sz="3800" b="1" i="0">
                <a:solidFill>
                  <a:srgbClr val="FFFFFF"/>
                </a:solidFill>
                <a:latin typeface="Segoe UI"/>
              </a:rPr>
              <a:t> and </a:t>
            </a:r>
            <a:r>
              <a:rPr sz="3800" b="1" i="0">
                <a:solidFill>
                  <a:srgbClr val="F3E43A"/>
                </a:solidFill>
                <a:latin typeface="Segoe UI"/>
              </a:rPr>
              <a:t>survivable.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297680"/>
            <a:ext cx="5120640" cy="128016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B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19" y="45262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F3E43A"/>
                </a:solidFill>
                <a:latin typeface="Segoe UI"/>
              </a:rPr>
              <a:t>TRUST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4864608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400" b="0" i="0">
                <a:solidFill>
                  <a:srgbClr val="FFFFFF"/>
                </a:solidFill>
                <a:latin typeface="Segoe UI"/>
              </a:rPr>
              <a:t>Define dimensions → split deterministic vs. judge → gate releases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4297680"/>
            <a:ext cx="5120640" cy="1280160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BFE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45262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F3E43A"/>
                </a:solidFill>
                <a:latin typeface="Segoe UI"/>
              </a:rPr>
              <a:t>RESILIENCE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864608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400" b="0" i="0">
                <a:solidFill>
                  <a:srgbClr val="FFFFFF"/>
                </a:solidFill>
                <a:latin typeface="Segoe UI"/>
              </a:rPr>
              <a:t>Durable state + streaming decoupled with Redis + automatic failover.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0350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EAF7F4"/>
                </a:solidFill>
                <a:latin typeface="Segoe UI"/>
              </a:rPr>
              <a:t>Thank you  ·  Talentica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4343</TotalTime>
  <Words>1984</Words>
  <Application>Microsoft Macintosh PowerPoint</Application>
  <PresentationFormat>Widescreen</PresentationFormat>
  <Paragraphs>294</Paragraphs>
  <Slides>19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Anupam Gupta</cp:lastModifiedBy>
  <cp:revision>2</cp:revision>
  <dcterms:created xsi:type="dcterms:W3CDTF">2013-01-27T09:14:16Z</dcterms:created>
  <dcterms:modified xsi:type="dcterms:W3CDTF">2026-07-27T06:49:00Z</dcterms:modified>
  <cp:category/>
</cp:coreProperties>
</file>